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317" r:id="rId5"/>
    <p:sldId id="307" r:id="rId6"/>
    <p:sldId id="308" r:id="rId7"/>
    <p:sldId id="278" r:id="rId8"/>
    <p:sldId id="309" r:id="rId9"/>
    <p:sldId id="310" r:id="rId10"/>
    <p:sldId id="311" r:id="rId11"/>
    <p:sldId id="312" r:id="rId12"/>
    <p:sldId id="316" r:id="rId13"/>
    <p:sldId id="263" r:id="rId14"/>
    <p:sldId id="314" r:id="rId15"/>
    <p:sldId id="31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E6A76"/>
    <a:srgbClr val="9C8D88"/>
    <a:srgbClr val="636A58"/>
    <a:srgbClr val="505A47"/>
    <a:srgbClr val="D1D8B7"/>
    <a:srgbClr val="A09D79"/>
    <a:srgbClr val="AD5C4D"/>
    <a:srgbClr val="543E35"/>
    <a:srgbClr val="637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5405" autoAdjust="0"/>
  </p:normalViewPr>
  <p:slideViewPr>
    <p:cSldViewPr snapToGrid="0">
      <p:cViewPr varScale="1">
        <p:scale>
          <a:sx n="79" d="100"/>
          <a:sy n="79" d="100"/>
        </p:scale>
        <p:origin x="114" y="570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12/17/2025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F2165-AECD-AC0B-0A46-19E82DC2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10EBC2-FFC3-2482-86CA-A129EAAA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704D6B-CA75-C920-89B4-EA8B79E6D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1BFD7-3F26-AFD4-F030-DBE1AE11C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031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3721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4091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4997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92719-D5D9-FEC2-B9D6-942BD020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61C7BD-F72D-B2B6-248B-4C2D712FAC1C}"/>
              </a:ext>
            </a:extLst>
          </p:cNvPr>
          <p:cNvSpPr txBox="1"/>
          <p:nvPr/>
        </p:nvSpPr>
        <p:spPr>
          <a:xfrm>
            <a:off x="3732192" y="415028"/>
            <a:ext cx="5708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/>
              <a:t>BOOTSTRAP  ASSIGNMENT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03426-2AC7-ADC2-580D-1355924B5DF2}"/>
              </a:ext>
            </a:extLst>
          </p:cNvPr>
          <p:cNvSpPr txBox="1"/>
          <p:nvPr/>
        </p:nvSpPr>
        <p:spPr>
          <a:xfrm>
            <a:off x="442724" y="1900054"/>
            <a:ext cx="28738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4000" b="1" dirty="0"/>
              <a:t>Theory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CA414-1EEF-8B92-5F87-F539BA27E89C}"/>
              </a:ext>
            </a:extLst>
          </p:cNvPr>
          <p:cNvSpPr txBox="1"/>
          <p:nvPr/>
        </p:nvSpPr>
        <p:spPr>
          <a:xfrm>
            <a:off x="653146" y="3051958"/>
            <a:ext cx="112696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b="1" dirty="0"/>
              <a:t>What is Bootstrap, and why is it useful for website design? </a:t>
            </a:r>
          </a:p>
          <a:p>
            <a:pPr marL="342900" indent="-342900">
              <a:buAutoNum type="arabicPeriod"/>
            </a:pPr>
            <a:r>
              <a:rPr lang="en-US" sz="2800" b="1" dirty="0"/>
              <a:t>Explain the Bootstrap grid system and how it helps create responsive layouts.</a:t>
            </a:r>
          </a:p>
          <a:p>
            <a:pPr marL="342900" indent="-342900">
              <a:buAutoNum type="arabicPeriod"/>
            </a:pPr>
            <a:r>
              <a:rPr lang="en-US" sz="2800" b="1" dirty="0"/>
              <a:t>List and explain at least three Bootstrap components (e.g., navbar, cards, buttons).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338167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63A2A82-24D1-9FE2-7A81-704098D3D4F7}"/>
              </a:ext>
            </a:extLst>
          </p:cNvPr>
          <p:cNvSpPr txBox="1"/>
          <p:nvPr/>
        </p:nvSpPr>
        <p:spPr>
          <a:xfrm flipH="1">
            <a:off x="-1" y="0"/>
            <a:ext cx="12191999" cy="13849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2800" b="1" u="sng" dirty="0"/>
          </a:p>
          <a:p>
            <a:r>
              <a:rPr lang="en-US" sz="2800" b="1" dirty="0"/>
              <a:t>1. What is Bootstrap, and why is it useful for website design?</a:t>
            </a:r>
            <a:endParaRPr lang="en-US" sz="2800" b="1" u="sng" dirty="0"/>
          </a:p>
          <a:p>
            <a:pPr algn="ctr"/>
            <a:endParaRPr lang="en-IN" sz="2800" b="1" u="sn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DDC3DF-7541-3DB7-C9A8-79684F7C2BB0}"/>
              </a:ext>
            </a:extLst>
          </p:cNvPr>
          <p:cNvSpPr txBox="1"/>
          <p:nvPr/>
        </p:nvSpPr>
        <p:spPr>
          <a:xfrm>
            <a:off x="249382" y="1603169"/>
            <a:ext cx="11637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Bootstrap is a free, open-source front-end framework used to build responsive and mobile-friendly websites quickly using HTML, CSS, and JavaScript.</a:t>
            </a:r>
            <a:endParaRPr lang="en-IN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C7E1EB-939E-89A0-22D5-605B962F5100}"/>
              </a:ext>
            </a:extLst>
          </p:cNvPr>
          <p:cNvSpPr txBox="1"/>
          <p:nvPr/>
        </p:nvSpPr>
        <p:spPr>
          <a:xfrm>
            <a:off x="249382" y="2695699"/>
            <a:ext cx="116378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What is Bootstrap?</a:t>
            </a:r>
          </a:p>
          <a:p>
            <a:endParaRPr lang="en-US" sz="2000" b="1" dirty="0"/>
          </a:p>
          <a:p>
            <a:r>
              <a:rPr lang="en-US" b="1" dirty="0"/>
              <a:t>Bootstrap provides ready-made design components and styles, such as: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Grid system (rows &amp; columns)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Buttons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Navbar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Cards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Alerts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 Carousels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0F2534B-A594-2622-A7C6-D5BD201301C5}"/>
              </a:ext>
            </a:extLst>
          </p:cNvPr>
          <p:cNvSpPr txBox="1"/>
          <p:nvPr/>
        </p:nvSpPr>
        <p:spPr>
          <a:xfrm>
            <a:off x="1" y="12"/>
            <a:ext cx="12192000" cy="101566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400" b="1" dirty="0"/>
              <a:t>Why is Bootstrap useful for website design?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209134-6844-FAA4-E6F2-DBBFFBD126F7}"/>
              </a:ext>
            </a:extLst>
          </p:cNvPr>
          <p:cNvSpPr txBox="1"/>
          <p:nvPr/>
        </p:nvSpPr>
        <p:spPr>
          <a:xfrm>
            <a:off x="0" y="1175657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/>
              <a:t>Responsive Design (Mobile-Friendly)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Websites automatically adjust for </a:t>
            </a:r>
            <a:r>
              <a:rPr lang="en-US" sz="2000" b="1" dirty="0"/>
              <a:t>mobile, tablet, and desktop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Uses a </a:t>
            </a:r>
            <a:r>
              <a:rPr lang="en-US" sz="2000" b="1" dirty="0"/>
              <a:t>12-column grid system</a:t>
            </a:r>
            <a:endParaRPr lang="en-US" sz="2000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A98302-4AF8-ADCD-1027-D87F0CB3CB02}"/>
              </a:ext>
            </a:extLst>
          </p:cNvPr>
          <p:cNvSpPr txBox="1"/>
          <p:nvPr/>
        </p:nvSpPr>
        <p:spPr>
          <a:xfrm>
            <a:off x="0" y="2657106"/>
            <a:ext cx="121920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2. Saves Time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No need to write lots of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Prebuilt components = </a:t>
            </a:r>
            <a:r>
              <a:rPr lang="en-US" sz="2000" b="1" dirty="0"/>
              <a:t>faster development</a:t>
            </a:r>
            <a:endParaRPr lang="en-US" sz="2000" dirty="0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6AE4FB-712A-AA78-E777-B58A9DC71B81}"/>
              </a:ext>
            </a:extLst>
          </p:cNvPr>
          <p:cNvSpPr txBox="1"/>
          <p:nvPr/>
        </p:nvSpPr>
        <p:spPr>
          <a:xfrm>
            <a:off x="0" y="4358246"/>
            <a:ext cx="121919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3.Easy to Learn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Simple class names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Beginner-friendly documentation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A4121-5ADA-17A8-3E65-795E510DF4C3}"/>
              </a:ext>
            </a:extLst>
          </p:cNvPr>
          <p:cNvSpPr txBox="1"/>
          <p:nvPr/>
        </p:nvSpPr>
        <p:spPr>
          <a:xfrm>
            <a:off x="795647" y="5400812"/>
            <a:ext cx="10390909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r>
              <a:rPr lang="en-US" b="1" dirty="0">
                <a:solidFill>
                  <a:schemeClr val="bg1"/>
                </a:solidFill>
              </a:rPr>
              <a:t>class="container"</a:t>
            </a:r>
          </a:p>
          <a:p>
            <a:r>
              <a:rPr lang="en-US" b="1" dirty="0">
                <a:solidFill>
                  <a:schemeClr val="bg1"/>
                </a:solidFill>
              </a:rPr>
              <a:t>class="row"</a:t>
            </a:r>
          </a:p>
          <a:p>
            <a:r>
              <a:rPr lang="en-US" b="1" dirty="0">
                <a:solidFill>
                  <a:schemeClr val="bg1"/>
                </a:solidFill>
              </a:rPr>
              <a:t>class="</a:t>
            </a:r>
            <a:r>
              <a:rPr lang="en-US" b="1" dirty="0" err="1">
                <a:solidFill>
                  <a:schemeClr val="bg1"/>
                </a:solidFill>
              </a:rPr>
              <a:t>btn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btn</a:t>
            </a:r>
            <a:r>
              <a:rPr lang="en-US" b="1" dirty="0">
                <a:solidFill>
                  <a:schemeClr val="bg1"/>
                </a:solidFill>
              </a:rPr>
              <a:t>-primary</a:t>
            </a:r>
            <a:r>
              <a:rPr lang="en-US" dirty="0"/>
              <a:t>"</a:t>
            </a:r>
            <a:endParaRPr lang="en-IN" dirty="0"/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32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097515D-2CA4-999F-ECC8-6DE0FDBDC979}"/>
              </a:ext>
            </a:extLst>
          </p:cNvPr>
          <p:cNvSpPr txBox="1"/>
          <p:nvPr/>
        </p:nvSpPr>
        <p:spPr>
          <a:xfrm>
            <a:off x="95003" y="166259"/>
            <a:ext cx="1199407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4. Consistent Design</a:t>
            </a:r>
          </a:p>
          <a:p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Same look across all browsers (Chrome, Firefox, Edge)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Clean and professional UI</a:t>
            </a:r>
          </a:p>
          <a:p>
            <a:endParaRPr lang="en-US" dirty="0"/>
          </a:p>
          <a:p>
            <a:r>
              <a:rPr lang="en-US" b="1" dirty="0"/>
              <a:t>5</a:t>
            </a:r>
            <a:r>
              <a:rPr lang="en-US" sz="2400" b="1" dirty="0"/>
              <a:t>. Customizable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You can override colors, fonts, and styles using your own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Works well with your existing projects (like your </a:t>
            </a:r>
            <a:r>
              <a:rPr lang="en-US" sz="2000" b="1" dirty="0"/>
              <a:t>Evita Beauty Salon</a:t>
            </a:r>
            <a:r>
              <a:rPr lang="en-US" sz="2000" dirty="0"/>
              <a:t> site)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6. </a:t>
            </a:r>
            <a:r>
              <a:rPr lang="en-US" sz="2400" b="1" dirty="0"/>
              <a:t>Cross-Browser Support</a:t>
            </a:r>
          </a:p>
          <a:p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Works smoothly on all modern browsers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000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A389E-E66D-C95C-AC4B-842688C3ABC9}"/>
              </a:ext>
            </a:extLst>
          </p:cNvPr>
          <p:cNvSpPr txBox="1"/>
          <p:nvPr/>
        </p:nvSpPr>
        <p:spPr>
          <a:xfrm flipH="1">
            <a:off x="-1" y="0"/>
            <a:ext cx="12191999" cy="138499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2800" b="1" u="sng" dirty="0"/>
          </a:p>
          <a:p>
            <a:r>
              <a:rPr lang="en-US" sz="2800" b="1" dirty="0"/>
              <a:t>2. Explain the Bootstrap grid system and how it helps create responsive layouts.</a:t>
            </a:r>
          </a:p>
          <a:p>
            <a:pPr algn="ctr"/>
            <a:endParaRPr lang="en-IN" sz="2800" b="1" u="sn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0CEA02-B245-B2BD-B77C-4E2381EAC1D2}"/>
              </a:ext>
            </a:extLst>
          </p:cNvPr>
          <p:cNvSpPr txBox="1"/>
          <p:nvPr/>
        </p:nvSpPr>
        <p:spPr>
          <a:xfrm>
            <a:off x="178131" y="1567546"/>
            <a:ext cx="117090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Bootstrap Grid System</a:t>
            </a:r>
            <a:r>
              <a:rPr lang="en-US" sz="2000" dirty="0"/>
              <a:t> is a </a:t>
            </a:r>
            <a:r>
              <a:rPr lang="en-US" sz="2000" b="1" dirty="0"/>
              <a:t>responsive layout system</a:t>
            </a:r>
            <a:r>
              <a:rPr lang="en-US" sz="2000" dirty="0"/>
              <a:t> that divides a web page into </a:t>
            </a:r>
            <a:r>
              <a:rPr lang="en-US" sz="2000" b="1" dirty="0"/>
              <a:t>12 flexible columns</a:t>
            </a:r>
            <a:r>
              <a:rPr lang="en-US" sz="2000" dirty="0"/>
              <a:t>, allowing developers to arrange content in rows and columns that automatically adjust according to different screen sizes (mobile, tablet, desktop).</a:t>
            </a:r>
            <a:endParaRPr lang="en-IN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7E8139-B15A-B205-93BC-F7AEAC0F24B9}"/>
              </a:ext>
            </a:extLst>
          </p:cNvPr>
          <p:cNvSpPr txBox="1"/>
          <p:nvPr/>
        </p:nvSpPr>
        <p:spPr>
          <a:xfrm>
            <a:off x="141159" y="2707574"/>
            <a:ext cx="1183843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1️⃣ Core Idea of the Bootstrap Grid</a:t>
            </a:r>
          </a:p>
          <a:p>
            <a:endParaRPr lang="en-US" sz="2400" b="1" dirty="0"/>
          </a:p>
          <a:p>
            <a:r>
              <a:rPr lang="en-US" sz="2000" dirty="0"/>
              <a:t>Bootstrap uses a </a:t>
            </a:r>
            <a:r>
              <a:rPr lang="en-US" sz="2000" b="1" dirty="0"/>
              <a:t>12-column grid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A page is divided into </a:t>
            </a:r>
            <a:r>
              <a:rPr lang="en-US" sz="2000" b="1" dirty="0"/>
              <a:t>12 equal columns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You can combine columns to create layouts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6 + 6 = two equal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 + 4 + 4 = three 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3 + 9 = sidebar + content</a:t>
            </a:r>
          </a:p>
          <a:p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8733F7-002C-72FA-061E-B562655E999B}"/>
              </a:ext>
            </a:extLst>
          </p:cNvPr>
          <p:cNvSpPr txBox="1"/>
          <p:nvPr/>
        </p:nvSpPr>
        <p:spPr>
          <a:xfrm>
            <a:off x="252984" y="5400979"/>
            <a:ext cx="616305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2️⃣ Main Grid Components✅ </a:t>
            </a:r>
          </a:p>
          <a:p>
            <a:endParaRPr lang="en-US" sz="2400" b="1" dirty="0"/>
          </a:p>
          <a:p>
            <a:pPr marL="342900" indent="-342900">
              <a:buAutoNum type="arabicPeriod"/>
            </a:pPr>
            <a:r>
              <a:rPr lang="en-US" sz="2400" dirty="0"/>
              <a:t>.container</a:t>
            </a:r>
          </a:p>
          <a:p>
            <a:r>
              <a:rPr lang="en-US" sz="2000" dirty="0"/>
              <a:t>Wraps your content and centers it.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38C4C-6670-FC2D-EAF4-485BE28BACFE}"/>
              </a:ext>
            </a:extLst>
          </p:cNvPr>
          <p:cNvSpPr txBox="1"/>
          <p:nvPr/>
        </p:nvSpPr>
        <p:spPr>
          <a:xfrm>
            <a:off x="548640" y="-12192"/>
            <a:ext cx="11119104" cy="156966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sz="2000" b="1" dirty="0">
                <a:solidFill>
                  <a:schemeClr val="bg1"/>
                </a:solidFill>
              </a:rPr>
              <a:t>&lt;div class="container"&gt;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...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&lt;/div&gt;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EBC28-5DE4-B2FC-6304-55ACB1E8F70C}"/>
              </a:ext>
            </a:extLst>
          </p:cNvPr>
          <p:cNvSpPr txBox="1"/>
          <p:nvPr/>
        </p:nvSpPr>
        <p:spPr>
          <a:xfrm>
            <a:off x="256032" y="1786051"/>
            <a:ext cx="1175918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Types:.</a:t>
            </a:r>
          </a:p>
          <a:p>
            <a:r>
              <a:rPr lang="en-IN" dirty="0"/>
              <a:t>container → fixed width.</a:t>
            </a:r>
          </a:p>
          <a:p>
            <a:r>
              <a:rPr lang="en-IN" dirty="0"/>
              <a:t>container-fluid → full width (100%)</a:t>
            </a:r>
          </a:p>
          <a:p>
            <a:endParaRPr lang="en-IN" dirty="0"/>
          </a:p>
          <a:p>
            <a:r>
              <a:rPr lang="en-IN" sz="2400" b="1" dirty="0"/>
              <a:t>✅ 2. .row</a:t>
            </a:r>
          </a:p>
          <a:p>
            <a:endParaRPr lang="en-IN" sz="2400" b="1" dirty="0"/>
          </a:p>
          <a:p>
            <a:r>
              <a:rPr lang="en-IN" dirty="0"/>
              <a:t>Creates a horizontal row.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4AB283-2F10-E1B3-0F2E-105C9EA49C28}"/>
              </a:ext>
            </a:extLst>
          </p:cNvPr>
          <p:cNvSpPr txBox="1"/>
          <p:nvPr/>
        </p:nvSpPr>
        <p:spPr>
          <a:xfrm>
            <a:off x="975360" y="4317599"/>
            <a:ext cx="9960864" cy="1015663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&lt;div class="row"&gt;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  ...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&lt;/div&gt;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BA4B87-80BC-E6F3-3957-CDC46D65E8AA}"/>
              </a:ext>
            </a:extLst>
          </p:cNvPr>
          <p:cNvSpPr txBox="1"/>
          <p:nvPr/>
        </p:nvSpPr>
        <p:spPr>
          <a:xfrm>
            <a:off x="548640" y="5699683"/>
            <a:ext cx="108051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Rows </a:t>
            </a:r>
            <a:r>
              <a:rPr lang="en-US" sz="2000" b="1" dirty="0"/>
              <a:t>must be inside a container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Rows remove extra left/right spacing (gutters control spacing)</a:t>
            </a:r>
          </a:p>
        </p:txBody>
      </p:sp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F831E2-DC68-1B3A-7208-9BAE7888AB46}"/>
              </a:ext>
            </a:extLst>
          </p:cNvPr>
          <p:cNvSpPr txBox="1"/>
          <p:nvPr/>
        </p:nvSpPr>
        <p:spPr>
          <a:xfrm>
            <a:off x="12192" y="-5431"/>
            <a:ext cx="121920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✅ 3. .col-* (Columns)</a:t>
            </a:r>
          </a:p>
          <a:p>
            <a:endParaRPr lang="en-US" dirty="0"/>
          </a:p>
          <a:p>
            <a:r>
              <a:rPr lang="en-US" sz="2000" dirty="0"/>
              <a:t>Columns go inside rows.</a:t>
            </a: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B8364D-FF28-35CF-5B48-E25AB89EE468}"/>
              </a:ext>
            </a:extLst>
          </p:cNvPr>
          <p:cNvSpPr txBox="1"/>
          <p:nvPr/>
        </p:nvSpPr>
        <p:spPr>
          <a:xfrm>
            <a:off x="877824" y="1161580"/>
            <a:ext cx="10475976" cy="132343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&lt;div class="row"&gt;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&lt;div class="col-6"&gt;Left&lt;/div&gt;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&lt;div class="col-6"&gt;Right&lt;/div&gt;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&lt;/div&gt;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80BBB4-52F0-CACB-579E-BB40A94987F3}"/>
              </a:ext>
            </a:extLst>
          </p:cNvPr>
          <p:cNvSpPr txBox="1"/>
          <p:nvPr/>
        </p:nvSpPr>
        <p:spPr>
          <a:xfrm>
            <a:off x="97536" y="2877235"/>
            <a:ext cx="115336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3️⃣ Responsive Breakpoints (Most Important Part)</a:t>
            </a:r>
          </a:p>
          <a:p>
            <a:endParaRPr lang="en-US" b="1" dirty="0"/>
          </a:p>
          <a:p>
            <a:r>
              <a:rPr lang="en-US" dirty="0"/>
              <a:t>Bootstrap automatically adapts layouts for different screen sizes.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BD9C431-2DF2-23A1-644E-EF71610EB5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2614758"/>
              </p:ext>
            </p:extLst>
          </p:nvPr>
        </p:nvGraphicFramePr>
        <p:xfrm>
          <a:off x="2023872" y="3987122"/>
          <a:ext cx="8136128" cy="277368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072128">
                  <a:extLst>
                    <a:ext uri="{9D8B030D-6E8A-4147-A177-3AD203B41FA5}">
                      <a16:colId xmlns:a16="http://schemas.microsoft.com/office/drawing/2014/main" val="70151377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956534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Class 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Device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0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.col-</a:t>
                      </a:r>
                      <a:endParaRPr lang="en-IN" sz="2000" dirty="0">
                        <a:solidFill>
                          <a:schemeClr val="accent6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Extra small (mobile)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56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.col-</a:t>
                      </a:r>
                      <a:r>
                        <a:rPr lang="en-US" sz="200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sm</a:t>
                      </a:r>
                      <a:r>
                        <a:rPr lang="en-US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-</a:t>
                      </a:r>
                      <a:endParaRPr lang="en-IN" sz="2000" dirty="0">
                        <a:solidFill>
                          <a:schemeClr val="accent6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Small (phones)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302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.col-md-</a:t>
                      </a:r>
                      <a:endParaRPr lang="en-IN" sz="2000" dirty="0">
                        <a:solidFill>
                          <a:schemeClr val="accent6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Medium (tablets)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683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Col-lg-</a:t>
                      </a:r>
                      <a:endParaRPr lang="en-IN" sz="2000" dirty="0">
                        <a:solidFill>
                          <a:schemeClr val="accent6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Large (laptops)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857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.col-xl-</a:t>
                      </a:r>
                      <a:endParaRPr lang="en-IN" sz="2000" dirty="0">
                        <a:solidFill>
                          <a:schemeClr val="accent6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Extra 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211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.col-</a:t>
                      </a:r>
                      <a:r>
                        <a:rPr lang="en-US" sz="2000" dirty="0" err="1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xxl</a:t>
                      </a:r>
                      <a:r>
                        <a:rPr lang="en-US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-</a:t>
                      </a:r>
                      <a:endParaRPr lang="en-IN" sz="2000" dirty="0">
                        <a:solidFill>
                          <a:schemeClr val="accent6">
                            <a:lumMod val="1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accent6">
                              <a:lumMod val="10000"/>
                            </a:schemeClr>
                          </a:solidFill>
                        </a:rPr>
                        <a:t>Very large screens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7445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937930E-BCBE-5DE0-0788-B97CC9608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5339" y="-568"/>
            <a:ext cx="4584589" cy="655376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834027-9C0E-B65C-8AFB-BC3DC042BBDD}"/>
              </a:ext>
            </a:extLst>
          </p:cNvPr>
          <p:cNvSpPr txBox="1"/>
          <p:nvPr/>
        </p:nvSpPr>
        <p:spPr>
          <a:xfrm>
            <a:off x="195072" y="2359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4️⃣ Example: Responsive Layout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58DAA4-1B7F-E6BB-FC4B-A722A7DEE966}"/>
              </a:ext>
            </a:extLst>
          </p:cNvPr>
          <p:cNvSpPr txBox="1"/>
          <p:nvPr/>
        </p:nvSpPr>
        <p:spPr>
          <a:xfrm>
            <a:off x="524256" y="913721"/>
            <a:ext cx="10838688" cy="2031325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&lt;div class="container"&gt;</a:t>
            </a:r>
          </a:p>
          <a:p>
            <a:r>
              <a:rPr lang="en-IN" b="1" dirty="0">
                <a:solidFill>
                  <a:schemeClr val="bg1"/>
                </a:solidFill>
              </a:rPr>
              <a:t>  &lt;div class="row"&gt;</a:t>
            </a:r>
          </a:p>
          <a:p>
            <a:r>
              <a:rPr lang="en-IN" b="1" dirty="0">
                <a:solidFill>
                  <a:schemeClr val="bg1"/>
                </a:solidFill>
              </a:rPr>
              <a:t>    &lt;div class="col-12 col-md-6 col-lg-4"&gt;Box 1&lt;/div&gt;</a:t>
            </a:r>
          </a:p>
          <a:p>
            <a:r>
              <a:rPr lang="en-IN" b="1" dirty="0">
                <a:solidFill>
                  <a:schemeClr val="bg1"/>
                </a:solidFill>
              </a:rPr>
              <a:t>    &lt;div class="col-12 col-md-6 col-lg-4"&gt;Box 2&lt;/div&gt;</a:t>
            </a:r>
          </a:p>
          <a:p>
            <a:r>
              <a:rPr lang="en-IN" b="1" dirty="0">
                <a:solidFill>
                  <a:schemeClr val="bg1"/>
                </a:solidFill>
              </a:rPr>
              <a:t>    &lt;div class="col-12 col-md-12 col-lg-4"&gt;Box 3&lt;/div&gt;</a:t>
            </a:r>
          </a:p>
          <a:p>
            <a:r>
              <a:rPr lang="en-IN" b="1" dirty="0">
                <a:solidFill>
                  <a:schemeClr val="bg1"/>
                </a:solidFill>
              </a:rPr>
              <a:t>  &lt;/div&gt;</a:t>
            </a:r>
          </a:p>
          <a:p>
            <a:r>
              <a:rPr lang="en-IN" b="1" dirty="0">
                <a:solidFill>
                  <a:schemeClr val="bg1"/>
                </a:solidFill>
              </a:rPr>
              <a:t>&lt;/div&gt;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3587B7-8917-E00B-485C-E7098CC074DC}"/>
              </a:ext>
            </a:extLst>
          </p:cNvPr>
          <p:cNvSpPr txBox="1"/>
          <p:nvPr/>
        </p:nvSpPr>
        <p:spPr>
          <a:xfrm>
            <a:off x="195072" y="3112300"/>
            <a:ext cx="114482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What happens?</a:t>
            </a:r>
          </a:p>
          <a:p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Mobile: Each box is full width (stacked)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Tablet: 2 boxes per row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Desktop: 3 boxes in one row</a:t>
            </a:r>
          </a:p>
          <a:p>
            <a:endParaRPr lang="en-IN" dirty="0"/>
          </a:p>
          <a:p>
            <a:r>
              <a:rPr lang="en-IN" dirty="0"/>
              <a:t>➡️ No media queries needed!</a:t>
            </a:r>
          </a:p>
          <a:p>
            <a:endParaRPr lang="en-IN" dirty="0"/>
          </a:p>
          <a:p>
            <a:r>
              <a:rPr lang="en-IN" sz="2400" b="1" dirty="0"/>
              <a:t>5️⃣ Auto Layout Columns</a:t>
            </a:r>
          </a:p>
          <a:p>
            <a:endParaRPr lang="en-IN" dirty="0"/>
          </a:p>
          <a:p>
            <a:r>
              <a:rPr lang="en-IN" dirty="0"/>
              <a:t>Bootstrap can auto-size columns: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909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5CED0-EE50-18C2-506E-E75BF3257028}"/>
              </a:ext>
            </a:extLst>
          </p:cNvPr>
          <p:cNvSpPr txBox="1"/>
          <p:nvPr/>
        </p:nvSpPr>
        <p:spPr>
          <a:xfrm>
            <a:off x="487680" y="523208"/>
            <a:ext cx="10997184" cy="1631216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&lt;div class="row"&gt;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&lt;div class="col"&gt;Auto&lt;/div&gt;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&lt;div class="col"&gt;Auto&lt;/div&gt;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&lt;div class="col"&gt;Auto&lt;/div&gt;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&lt;/div&gt;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995C43-A26B-3D1A-663C-4C534166389B}"/>
              </a:ext>
            </a:extLst>
          </p:cNvPr>
          <p:cNvSpPr txBox="1"/>
          <p:nvPr/>
        </p:nvSpPr>
        <p:spPr>
          <a:xfrm>
            <a:off x="597408" y="2533243"/>
            <a:ext cx="10997184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6️⃣ Grid Spacing (Gutters)</a:t>
            </a:r>
          </a:p>
          <a:p>
            <a:endParaRPr lang="en-US" b="1" dirty="0"/>
          </a:p>
          <a:p>
            <a:r>
              <a:rPr lang="en-US" sz="2000" dirty="0"/>
              <a:t>Control spacing between columns: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5D3D6B-761A-6E19-9B3F-B589A8FE7569}"/>
              </a:ext>
            </a:extLst>
          </p:cNvPr>
          <p:cNvSpPr txBox="1"/>
          <p:nvPr/>
        </p:nvSpPr>
        <p:spPr>
          <a:xfrm>
            <a:off x="487680" y="4124236"/>
            <a:ext cx="10997184" cy="1323439"/>
          </a:xfrm>
          <a:prstGeom prst="rect">
            <a:avLst/>
          </a:prstGeom>
          <a:solidFill>
            <a:srgbClr val="000000"/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&lt;div class="row g-3"&gt;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&lt;div class="col"&gt;Box&lt;/div&gt;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  &lt;div class="col"&gt;Box&lt;/div&gt;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&lt;/div&gt;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D54660-9EE5-B36A-901D-57765B8E1BCD}"/>
              </a:ext>
            </a:extLst>
          </p:cNvPr>
          <p:cNvSpPr txBox="1"/>
          <p:nvPr/>
        </p:nvSpPr>
        <p:spPr>
          <a:xfrm>
            <a:off x="597408" y="5844278"/>
            <a:ext cx="107563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g-0 → no gap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g-5 → large gap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0793C86-96A3-7D6F-8D90-78AD2D50BDDF}"/>
              </a:ext>
            </a:extLst>
          </p:cNvPr>
          <p:cNvSpPr txBox="1"/>
          <p:nvPr/>
        </p:nvSpPr>
        <p:spPr>
          <a:xfrm>
            <a:off x="121920" y="274981"/>
            <a:ext cx="11801856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7️⃣ Why Bootstrap Grid Is Useful</a:t>
            </a:r>
          </a:p>
          <a:p>
            <a:endParaRPr lang="en-IN" sz="2400" b="1" dirty="0"/>
          </a:p>
          <a:p>
            <a:r>
              <a:rPr lang="en-IN" sz="2000" dirty="0"/>
              <a:t>✔ Mobile-first design</a:t>
            </a:r>
            <a:br>
              <a:rPr lang="en-IN" sz="2000" dirty="0"/>
            </a:br>
            <a:r>
              <a:rPr lang="en-IN" sz="2000" dirty="0"/>
              <a:t>✔ No complex CSS or float hacks</a:t>
            </a:r>
            <a:br>
              <a:rPr lang="en-IN" sz="2000" dirty="0"/>
            </a:br>
            <a:r>
              <a:rPr lang="en-IN" sz="2000" dirty="0"/>
              <a:t>✔ Works on all screen sizes</a:t>
            </a:r>
            <a:br>
              <a:rPr lang="en-IN" sz="2000" dirty="0"/>
            </a:br>
            <a:r>
              <a:rPr lang="en-IN" sz="2000" dirty="0"/>
              <a:t>✔ Faster development</a:t>
            </a:r>
            <a:br>
              <a:rPr lang="en-IN" sz="2000" dirty="0"/>
            </a:br>
            <a:r>
              <a:rPr lang="en-IN" sz="2000" dirty="0"/>
              <a:t>✔ Clean &amp; consistent layouts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38F581-31B0-4A63-96A4-343AF95B893D}"/>
              </a:ext>
            </a:extLst>
          </p:cNvPr>
          <p:cNvSpPr txBox="1"/>
          <p:nvPr/>
        </p:nvSpPr>
        <p:spPr>
          <a:xfrm>
            <a:off x="268224" y="2856268"/>
            <a:ext cx="11801856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8️⃣ Real-World Use (Like Your Beauty Parlor Website )</a:t>
            </a:r>
          </a:p>
          <a:p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For your Evita Beauty Salon: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Services → col-lg-3 col-md-6 col-12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Sliders → full width on mobile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Footer → responsive columns without extra CSS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F8815D-82A2-FACF-66E4-A122D2688AA0}"/>
              </a:ext>
            </a:extLst>
          </p:cNvPr>
          <p:cNvSpPr txBox="1"/>
          <p:nvPr/>
        </p:nvSpPr>
        <p:spPr>
          <a:xfrm>
            <a:off x="0" y="6019"/>
            <a:ext cx="12192000" cy="10772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800" b="1" dirty="0"/>
              <a:t>List and explain at least three Bootstrap components (e.g., navbar, cards, buttons).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EFFB4A-10A2-F118-F57E-55FB61207E3A}"/>
              </a:ext>
            </a:extLst>
          </p:cNvPr>
          <p:cNvSpPr txBox="1"/>
          <p:nvPr/>
        </p:nvSpPr>
        <p:spPr>
          <a:xfrm>
            <a:off x="85344" y="1072587"/>
            <a:ext cx="11814048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1️⃣ Navbar</a:t>
            </a:r>
          </a:p>
          <a:p>
            <a:endParaRPr lang="en-US" sz="2400" b="1" dirty="0"/>
          </a:p>
          <a:p>
            <a:r>
              <a:rPr lang="en-US" b="1" dirty="0"/>
              <a:t>Navbar</a:t>
            </a:r>
            <a:r>
              <a:rPr lang="en-US" dirty="0"/>
              <a:t> </a:t>
            </a:r>
            <a:r>
              <a:rPr lang="en-US" sz="2000" dirty="0"/>
              <a:t>is a responsive navigation header used to display menus, links, logos, and buttons at the top of a website.</a:t>
            </a:r>
          </a:p>
          <a:p>
            <a:endParaRPr lang="en-US" sz="2000" dirty="0"/>
          </a:p>
          <a:p>
            <a:r>
              <a:rPr lang="en-US" b="1" dirty="0"/>
              <a:t>Why it’s useful: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2000" dirty="0"/>
              <a:t>Automatically adjusts for mobile and desktop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Supports dropdowns and toggle (hamburger) menu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Easy to customize with Bootstrap classes</a:t>
            </a:r>
          </a:p>
          <a:p>
            <a:r>
              <a:rPr lang="en-US" sz="2000" b="1" dirty="0"/>
              <a:t>Example use:</a:t>
            </a:r>
            <a:r>
              <a:rPr lang="en-US" sz="2000" dirty="0"/>
              <a:t> Website header with Home, About, Services, Contact links.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9A09C-727F-F6B6-677B-745E58B85938}"/>
              </a:ext>
            </a:extLst>
          </p:cNvPr>
          <p:cNvSpPr txBox="1"/>
          <p:nvPr/>
        </p:nvSpPr>
        <p:spPr>
          <a:xfrm>
            <a:off x="85344" y="4386364"/>
            <a:ext cx="119298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2️⃣ Cards</a:t>
            </a:r>
          </a:p>
          <a:p>
            <a:endParaRPr lang="en-US" sz="2000" b="1" dirty="0"/>
          </a:p>
          <a:p>
            <a:r>
              <a:rPr lang="en-US" sz="2000" b="1" dirty="0"/>
              <a:t>Cards</a:t>
            </a:r>
            <a:r>
              <a:rPr lang="en-US" sz="2000" dirty="0"/>
              <a:t> are flexible content containers used to display information like images, text, buttons, or links in a clean layout.</a:t>
            </a:r>
          </a:p>
          <a:p>
            <a:endParaRPr lang="en-US" dirty="0"/>
          </a:p>
          <a:p>
            <a:r>
              <a:rPr lang="en-US" b="1" dirty="0"/>
              <a:t>Why it’s useful: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1EA13F3-11FC-9430-D7A9-0D98D4A07692}"/>
              </a:ext>
            </a:extLst>
          </p:cNvPr>
          <p:cNvSpPr txBox="1"/>
          <p:nvPr/>
        </p:nvSpPr>
        <p:spPr>
          <a:xfrm>
            <a:off x="134112" y="-14948"/>
            <a:ext cx="117165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Perfect for services, products, profiles, or blog posts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Easy to align in grids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Built-in padding and shadow styles</a:t>
            </a:r>
          </a:p>
          <a:p>
            <a:r>
              <a:rPr lang="en-US" sz="2000" b="1" dirty="0"/>
              <a:t>Example use:</a:t>
            </a:r>
            <a:r>
              <a:rPr lang="en-US" sz="2000" dirty="0"/>
              <a:t> Product cards, service boxes, team member profiles.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371CC3-CCD7-8716-D868-B7CC36EA022D}"/>
              </a:ext>
            </a:extLst>
          </p:cNvPr>
          <p:cNvSpPr txBox="1"/>
          <p:nvPr/>
        </p:nvSpPr>
        <p:spPr>
          <a:xfrm>
            <a:off x="134112" y="1382744"/>
            <a:ext cx="1196035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3️⃣ Buttons</a:t>
            </a:r>
          </a:p>
          <a:p>
            <a:endParaRPr lang="en-IN" sz="2400" b="1" dirty="0"/>
          </a:p>
          <a:p>
            <a:r>
              <a:rPr lang="en-IN" sz="2000" dirty="0"/>
              <a:t>Buttons are styled clickable elements used to perform actions like submit, login, or navigate.</a:t>
            </a:r>
          </a:p>
          <a:p>
            <a:endParaRPr lang="en-IN" sz="2000" dirty="0"/>
          </a:p>
          <a:p>
            <a:r>
              <a:rPr lang="en-IN" sz="2000" dirty="0"/>
              <a:t>Why it’s useful: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Predefined styles (primary, success, danger,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Responsive and consistent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Easy hover and active effects</a:t>
            </a:r>
          </a:p>
          <a:p>
            <a:r>
              <a:rPr lang="en-IN" sz="2000" dirty="0"/>
              <a:t>Example use: “Book Now”, “Submit”, “Read More” buttons.</a:t>
            </a:r>
          </a:p>
        </p:txBody>
      </p:sp>
    </p:spTree>
    <p:extLst>
      <p:ext uri="{BB962C8B-B14F-4D97-AF65-F5344CB8AC3E}">
        <p14:creationId xmlns:p14="http://schemas.microsoft.com/office/powerpoint/2010/main" val="15629549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{97A71039-41F5-4A89-B9EA-ED2663FDC5D7}tf11964407_win32</Template>
  <TotalTime>148</TotalTime>
  <Words>1039</Words>
  <Application>Microsoft Office PowerPoint</Application>
  <PresentationFormat>Widescreen</PresentationFormat>
  <Paragraphs>192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Courier New</vt:lpstr>
      <vt:lpstr>Gill Sans Nova Light</vt:lpstr>
      <vt:lpstr>Sagona Book</vt:lpstr>
      <vt:lpstr>Wingdings</vt:lpstr>
      <vt:lpstr>Custom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Varma Vishal</dc:creator>
  <cp:lastModifiedBy>Varma Vishal</cp:lastModifiedBy>
  <cp:revision>1</cp:revision>
  <dcterms:created xsi:type="dcterms:W3CDTF">2025-12-17T10:35:20Z</dcterms:created>
  <dcterms:modified xsi:type="dcterms:W3CDTF">2025-12-17T13:03:37Z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