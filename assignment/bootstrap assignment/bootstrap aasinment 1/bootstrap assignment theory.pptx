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318" r:id="rId5"/>
    <p:sldId id="317" r:id="rId6"/>
    <p:sldId id="307" r:id="rId7"/>
    <p:sldId id="308" r:id="rId8"/>
    <p:sldId id="278" r:id="rId9"/>
    <p:sldId id="309" r:id="rId10"/>
    <p:sldId id="263" r:id="rId11"/>
    <p:sldId id="312" r:id="rId12"/>
    <p:sldId id="310" r:id="rId13"/>
    <p:sldId id="311" r:id="rId14"/>
    <p:sldId id="316" r:id="rId15"/>
    <p:sldId id="314" r:id="rId16"/>
    <p:sldId id="304" r:id="rId17"/>
    <p:sldId id="319" r:id="rId18"/>
    <p:sldId id="320" r:id="rId19"/>
    <p:sldId id="315" r:id="rId20"/>
    <p:sldId id="321" r:id="rId21"/>
    <p:sldId id="32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36A58"/>
    <a:srgbClr val="505A47"/>
    <a:srgbClr val="D1D8B7"/>
    <a:srgbClr val="A09D79"/>
    <a:srgbClr val="AD5C4D"/>
    <a:srgbClr val="543E35"/>
    <a:srgbClr val="637700"/>
    <a:srgbClr val="FFF4ED"/>
    <a:srgbClr val="5E6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8" autoAdjust="0"/>
    <p:restoredTop sz="95405" autoAdjust="0"/>
  </p:normalViewPr>
  <p:slideViewPr>
    <p:cSldViewPr snapToGrid="0">
      <p:cViewPr varScale="1">
        <p:scale>
          <a:sx n="79" d="100"/>
          <a:sy n="79" d="100"/>
        </p:scale>
        <p:origin x="114" y="570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12/17/2025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2748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61C7BD-F72D-B2B6-248B-4C2D712FAC1C}"/>
              </a:ext>
            </a:extLst>
          </p:cNvPr>
          <p:cNvSpPr txBox="1"/>
          <p:nvPr/>
        </p:nvSpPr>
        <p:spPr>
          <a:xfrm>
            <a:off x="442724" y="415028"/>
            <a:ext cx="11254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 dirty="0"/>
              <a:t>Advanced Bootstrap Component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303426-2AC7-ADC2-580D-1355924B5DF2}"/>
              </a:ext>
            </a:extLst>
          </p:cNvPr>
          <p:cNvSpPr txBox="1"/>
          <p:nvPr/>
        </p:nvSpPr>
        <p:spPr>
          <a:xfrm>
            <a:off x="442724" y="1900054"/>
            <a:ext cx="2873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4000" b="1" dirty="0"/>
              <a:t>Theory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6CA414-1EEF-8B92-5F87-F539BA27E89C}"/>
              </a:ext>
            </a:extLst>
          </p:cNvPr>
          <p:cNvSpPr txBox="1"/>
          <p:nvPr/>
        </p:nvSpPr>
        <p:spPr>
          <a:xfrm>
            <a:off x="249382" y="3051958"/>
            <a:ext cx="116734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800" b="1" dirty="0"/>
              <a:t>Explain how modals and carousels work in Bootstrap. </a:t>
            </a:r>
          </a:p>
          <a:p>
            <a:pPr marL="514350" indent="-514350">
              <a:buAutoNum type="arabicPeriod"/>
            </a:pPr>
            <a:r>
              <a:rPr lang="en-US" sz="2800" b="1" dirty="0"/>
              <a:t>Describe the purpose of utility classes in Bootstrap and give examples. </a:t>
            </a:r>
          </a:p>
          <a:p>
            <a:pPr marL="514350" indent="-514350">
              <a:buAutoNum type="arabicPeriod"/>
            </a:pPr>
            <a:r>
              <a:rPr lang="en-US" sz="2800" b="1" dirty="0"/>
              <a:t>Discuss the importance of customizing Bootstrap variables for unique styling.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169419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13A60C-A23B-4BD7-FA8D-EA710A99B118}"/>
              </a:ext>
            </a:extLst>
          </p:cNvPr>
          <p:cNvSpPr txBox="1"/>
          <p:nvPr/>
        </p:nvSpPr>
        <p:spPr>
          <a:xfrm>
            <a:off x="195072" y="1535349"/>
            <a:ext cx="11679936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✅ What is a Modal?</a:t>
            </a:r>
          </a:p>
          <a:p>
            <a:endParaRPr lang="en-IN" dirty="0"/>
          </a:p>
          <a:p>
            <a:r>
              <a:rPr lang="en-IN" sz="2400" dirty="0"/>
              <a:t>A modal is a popup dialog box that appears on top of the current page</a:t>
            </a:r>
          </a:p>
          <a:p>
            <a:r>
              <a:rPr lang="en-IN" sz="2400" dirty="0"/>
              <a:t>.It is commonly used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Login / Signup forms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Alerts &amp; confirmations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Extra information without leaving the page</a:t>
            </a:r>
          </a:p>
          <a:p>
            <a:endParaRPr lang="en-IN" sz="2400" b="1" dirty="0"/>
          </a:p>
          <a:p>
            <a:r>
              <a:rPr lang="en-IN" sz="2400" b="1" dirty="0"/>
              <a:t>⚙️ How Modals Work in Bootstrap</a:t>
            </a:r>
          </a:p>
          <a:p>
            <a:endParaRPr lang="en-IN" dirty="0"/>
          </a:p>
          <a:p>
            <a:r>
              <a:rPr lang="en-IN" dirty="0"/>
              <a:t>Bootstrap modals work using: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HTML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Bootstrap CSS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Bootstrap JavaScript (or data attributes)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9AF37B-F19E-D028-F9EB-C9B6126D3626}"/>
              </a:ext>
            </a:extLst>
          </p:cNvPr>
          <p:cNvSpPr txBox="1"/>
          <p:nvPr/>
        </p:nvSpPr>
        <p:spPr>
          <a:xfrm>
            <a:off x="0" y="0"/>
            <a:ext cx="12192000" cy="132343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  <a:p>
            <a:pPr algn="ctr"/>
            <a:r>
              <a:rPr lang="en-IN" sz="4400" b="1" dirty="0" err="1"/>
              <a:t>Boostrap</a:t>
            </a:r>
            <a:r>
              <a:rPr lang="en-IN" sz="4400" b="1" dirty="0"/>
              <a:t> model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ACD748F-8D2D-0734-8F69-67D1A1BA0B1E}"/>
              </a:ext>
            </a:extLst>
          </p:cNvPr>
          <p:cNvSpPr txBox="1"/>
          <p:nvPr/>
        </p:nvSpPr>
        <p:spPr>
          <a:xfrm>
            <a:off x="3029712" y="199382"/>
            <a:ext cx="61081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🧱 Basic Structure of a Modal</a:t>
            </a:r>
            <a:endParaRPr lang="en-IN" sz="3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789882-07F9-58C2-4A21-A6CBE718831B}"/>
              </a:ext>
            </a:extLst>
          </p:cNvPr>
          <p:cNvSpPr txBox="1"/>
          <p:nvPr/>
        </p:nvSpPr>
        <p:spPr>
          <a:xfrm>
            <a:off x="134112" y="1249877"/>
            <a:ext cx="11899392" cy="5632311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&lt;!-- Button to open modal --&gt;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&lt;button class="</a:t>
            </a:r>
            <a:r>
              <a:rPr lang="en-IN" sz="2000" dirty="0" err="1">
                <a:solidFill>
                  <a:schemeClr val="bg1"/>
                </a:solidFill>
              </a:rPr>
              <a:t>btn</a:t>
            </a:r>
            <a:r>
              <a:rPr lang="en-IN" sz="2000" dirty="0">
                <a:solidFill>
                  <a:schemeClr val="bg1"/>
                </a:solidFill>
              </a:rPr>
              <a:t> </a:t>
            </a:r>
            <a:r>
              <a:rPr lang="en-IN" sz="2000" dirty="0" err="1">
                <a:solidFill>
                  <a:schemeClr val="bg1"/>
                </a:solidFill>
              </a:rPr>
              <a:t>btn</a:t>
            </a:r>
            <a:r>
              <a:rPr lang="en-IN" sz="2000" dirty="0">
                <a:solidFill>
                  <a:schemeClr val="bg1"/>
                </a:solidFill>
              </a:rPr>
              <a:t>-primary" data-bs-toggle="modal" data-bs-target="#</a:t>
            </a:r>
            <a:r>
              <a:rPr lang="en-IN" sz="2000" dirty="0" err="1">
                <a:solidFill>
                  <a:schemeClr val="bg1"/>
                </a:solidFill>
              </a:rPr>
              <a:t>myModal</a:t>
            </a:r>
            <a:r>
              <a:rPr lang="en-IN" sz="2000" dirty="0">
                <a:solidFill>
                  <a:schemeClr val="bg1"/>
                </a:solidFill>
              </a:rPr>
              <a:t>"&gt;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Open Modal</a:t>
            </a:r>
          </a:p>
          <a:p>
            <a:r>
              <a:rPr lang="en-IN" sz="2000" dirty="0">
                <a:solidFill>
                  <a:schemeClr val="bg1"/>
                </a:solidFill>
              </a:rPr>
              <a:t>&lt;/button&gt;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&lt;!-- Modal --&gt;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&lt;div class="modal fade" id="</a:t>
            </a:r>
            <a:r>
              <a:rPr lang="en-IN" sz="2000" dirty="0" err="1">
                <a:solidFill>
                  <a:schemeClr val="bg1"/>
                </a:solidFill>
              </a:rPr>
              <a:t>myModal</a:t>
            </a:r>
            <a:r>
              <a:rPr lang="en-IN" sz="2000" dirty="0">
                <a:solidFill>
                  <a:schemeClr val="bg1"/>
                </a:solidFill>
              </a:rPr>
              <a:t>"&gt;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&lt;div class="modal-dialog"&gt;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&lt;div class="modal-content"&gt;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      &lt;div class="modal-header"&gt;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    &lt;h5 class="modal-title"&gt;Modal Title&lt;/h5&gt;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    &lt;button class="</a:t>
            </a:r>
            <a:r>
              <a:rPr lang="en-IN" sz="2000" dirty="0" err="1">
                <a:solidFill>
                  <a:schemeClr val="bg1"/>
                </a:solidFill>
              </a:rPr>
              <a:t>btn</a:t>
            </a:r>
            <a:r>
              <a:rPr lang="en-IN" sz="2000" dirty="0">
                <a:solidFill>
                  <a:schemeClr val="bg1"/>
                </a:solidFill>
              </a:rPr>
              <a:t>-close" data-bs-dismiss="modal"&gt;&lt;/button&gt;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  &lt;/div&gt;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      &lt;div class="modal-body"&gt;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    Modal content goes here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  &lt;/div&gt;</a:t>
            </a:r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951A75A-A533-915A-20CF-A859BAF0F3D7}"/>
              </a:ext>
            </a:extLst>
          </p:cNvPr>
          <p:cNvSpPr txBox="1"/>
          <p:nvPr/>
        </p:nvSpPr>
        <p:spPr>
          <a:xfrm>
            <a:off x="231648" y="4078"/>
            <a:ext cx="11789664" cy="2246769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2000" dirty="0">
                <a:solidFill>
                  <a:schemeClr val="bg1"/>
                </a:solidFill>
              </a:rPr>
              <a:t>&lt;div class="modal-footer"&gt;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    &lt;button class="</a:t>
            </a:r>
            <a:r>
              <a:rPr lang="en-US" sz="2000" dirty="0" err="1">
                <a:solidFill>
                  <a:schemeClr val="bg1"/>
                </a:solidFill>
              </a:rPr>
              <a:t>btn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btn</a:t>
            </a:r>
            <a:r>
              <a:rPr lang="en-US" sz="2000" dirty="0">
                <a:solidFill>
                  <a:schemeClr val="bg1"/>
                </a:solidFill>
              </a:rPr>
              <a:t>-secondary" data-bs-dismiss="modal"&gt;Close&lt;/button&gt;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  &lt;/div&gt;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    &lt;/div&gt;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&lt;/div&gt;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&lt;/div&gt;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28AB73-5E12-58D7-0D66-99D0A1BD3FEB}"/>
              </a:ext>
            </a:extLst>
          </p:cNvPr>
          <p:cNvSpPr txBox="1"/>
          <p:nvPr/>
        </p:nvSpPr>
        <p:spPr>
          <a:xfrm>
            <a:off x="231648" y="2359813"/>
            <a:ext cx="1178966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🧠 Key Points (Modal)</a:t>
            </a:r>
          </a:p>
          <a:p>
            <a:endParaRPr lang="en-IN" sz="20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data-bs-toggle="modal" → tells Bootstrap this is a modal trigger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data-bs-target="#</a:t>
            </a:r>
            <a:r>
              <a:rPr lang="en-IN" sz="2000" dirty="0" err="1"/>
              <a:t>myModal</a:t>
            </a:r>
            <a:r>
              <a:rPr lang="en-IN" sz="2000" dirty="0"/>
              <a:t>" → opens the modal with that ID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modal-dialog → controls modal size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modal-content → contains header, body, footer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fade → adds animation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Bootstrap JS automatically handles open, close, backdrop, keyboard events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430E51-635F-7EB1-C580-5270B3791B49}"/>
              </a:ext>
            </a:extLst>
          </p:cNvPr>
          <p:cNvSpPr txBox="1"/>
          <p:nvPr/>
        </p:nvSpPr>
        <p:spPr>
          <a:xfrm>
            <a:off x="231648" y="5225903"/>
            <a:ext cx="11789664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🔹 Bootstrap Carousel</a:t>
            </a:r>
          </a:p>
          <a:p>
            <a:endParaRPr lang="en-US" b="1" dirty="0"/>
          </a:p>
          <a:p>
            <a:r>
              <a:rPr lang="en-US" b="1" dirty="0"/>
              <a:t>✅ What is a Carousel?</a:t>
            </a:r>
          </a:p>
          <a:p>
            <a:endParaRPr lang="en-US" b="1" dirty="0"/>
          </a:p>
          <a:p>
            <a:r>
              <a:rPr lang="en-US" sz="2000" dirty="0"/>
              <a:t>A </a:t>
            </a:r>
            <a:r>
              <a:rPr lang="en-US" sz="2000" b="1" dirty="0"/>
              <a:t>carousel</a:t>
            </a:r>
            <a:r>
              <a:rPr lang="en-US" sz="2000" dirty="0"/>
              <a:t> is a slideshow component used to rotate:</a:t>
            </a: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7E10713-6E45-D433-53A4-831225B20BE6}"/>
              </a:ext>
            </a:extLst>
          </p:cNvPr>
          <p:cNvSpPr txBox="1"/>
          <p:nvPr/>
        </p:nvSpPr>
        <p:spPr>
          <a:xfrm>
            <a:off x="256032" y="143548"/>
            <a:ext cx="11740896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Images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Text content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Promotional banners</a:t>
            </a:r>
          </a:p>
          <a:p>
            <a:endParaRPr lang="en-IN" dirty="0"/>
          </a:p>
          <a:p>
            <a:r>
              <a:rPr lang="en-IN" sz="2000" b="1" dirty="0"/>
              <a:t>It supports:</a:t>
            </a:r>
          </a:p>
          <a:p>
            <a:endParaRPr lang="en-IN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Auto sliding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Manual controls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Indicators (dots)</a:t>
            </a:r>
          </a:p>
          <a:p>
            <a:endParaRPr lang="en-IN" dirty="0"/>
          </a:p>
          <a:p>
            <a:r>
              <a:rPr lang="en-IN" sz="2400" b="1" dirty="0"/>
              <a:t>⚙️ How Carousels Work in Bootstrap</a:t>
            </a:r>
          </a:p>
          <a:p>
            <a:endParaRPr lang="en-IN" dirty="0"/>
          </a:p>
          <a:p>
            <a:r>
              <a:rPr lang="en-IN" sz="2000" b="1" dirty="0"/>
              <a:t>Carousels work using: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A wrapper .carousel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Slides inside .carousel-item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JavaScript for sliding </a:t>
            </a:r>
            <a:r>
              <a:rPr lang="en-IN" sz="2000" dirty="0" err="1"/>
              <a:t>behavior</a:t>
            </a: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D164C1-1C76-C050-FB07-E0A926FABD75}"/>
              </a:ext>
            </a:extLst>
          </p:cNvPr>
          <p:cNvSpPr txBox="1"/>
          <p:nvPr/>
        </p:nvSpPr>
        <p:spPr>
          <a:xfrm>
            <a:off x="243840" y="331089"/>
            <a:ext cx="11655552" cy="6555641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&lt;div id="</a:t>
            </a:r>
            <a:r>
              <a:rPr lang="en-IN" sz="2000" dirty="0" err="1">
                <a:solidFill>
                  <a:schemeClr val="bg1"/>
                </a:solidFill>
              </a:rPr>
              <a:t>myCarousel</a:t>
            </a:r>
            <a:r>
              <a:rPr lang="en-IN" sz="2000" dirty="0">
                <a:solidFill>
                  <a:schemeClr val="bg1"/>
                </a:solidFill>
              </a:rPr>
              <a:t>" class="carousel slide" data-bs-ride="carousel"&gt;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  &lt;!-- Indicators --&gt;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&lt;div class="carousel-indicators"&gt;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&lt;button data-bs-target="#</a:t>
            </a:r>
            <a:r>
              <a:rPr lang="en-IN" sz="2000" dirty="0" err="1">
                <a:solidFill>
                  <a:schemeClr val="bg1"/>
                </a:solidFill>
              </a:rPr>
              <a:t>myCarousel</a:t>
            </a:r>
            <a:r>
              <a:rPr lang="en-IN" sz="2000" dirty="0">
                <a:solidFill>
                  <a:schemeClr val="bg1"/>
                </a:solidFill>
              </a:rPr>
              <a:t>" data-bs-slide-to="0" class="active"&gt;&lt;/button&gt;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&lt;button data-bs-target="#</a:t>
            </a:r>
            <a:r>
              <a:rPr lang="en-IN" sz="2000" dirty="0" err="1">
                <a:solidFill>
                  <a:schemeClr val="bg1"/>
                </a:solidFill>
              </a:rPr>
              <a:t>myCarousel</a:t>
            </a:r>
            <a:r>
              <a:rPr lang="en-IN" sz="2000" dirty="0">
                <a:solidFill>
                  <a:schemeClr val="bg1"/>
                </a:solidFill>
              </a:rPr>
              <a:t>" data-bs-slide-to="1"&gt;&lt;/button&gt;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&lt;/div&gt;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  &lt;!-- Slides --&gt;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&lt;div class="carousel-inner"&gt;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&lt;div class="carousel-item active"&gt;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  &lt;</a:t>
            </a:r>
            <a:r>
              <a:rPr lang="en-IN" sz="2000" dirty="0" err="1">
                <a:solidFill>
                  <a:schemeClr val="bg1"/>
                </a:solidFill>
              </a:rPr>
              <a:t>img</a:t>
            </a:r>
            <a:r>
              <a:rPr lang="en-IN" sz="2000" dirty="0">
                <a:solidFill>
                  <a:schemeClr val="bg1"/>
                </a:solidFill>
              </a:rPr>
              <a:t> </a:t>
            </a:r>
            <a:r>
              <a:rPr lang="en-IN" sz="2000" dirty="0" err="1">
                <a:solidFill>
                  <a:schemeClr val="bg1"/>
                </a:solidFill>
              </a:rPr>
              <a:t>src</a:t>
            </a:r>
            <a:r>
              <a:rPr lang="en-IN" sz="2000" dirty="0">
                <a:solidFill>
                  <a:schemeClr val="bg1"/>
                </a:solidFill>
              </a:rPr>
              <a:t>="img1.jpg" class="d-block w-100"&gt;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&lt;/div&gt;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&lt;div class="carousel-item"&gt;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  &lt;</a:t>
            </a:r>
            <a:r>
              <a:rPr lang="en-IN" sz="2000" dirty="0" err="1">
                <a:solidFill>
                  <a:schemeClr val="bg1"/>
                </a:solidFill>
              </a:rPr>
              <a:t>img</a:t>
            </a:r>
            <a:r>
              <a:rPr lang="en-IN" sz="2000" dirty="0">
                <a:solidFill>
                  <a:schemeClr val="bg1"/>
                </a:solidFill>
              </a:rPr>
              <a:t> </a:t>
            </a:r>
            <a:r>
              <a:rPr lang="en-IN" sz="2000" dirty="0" err="1">
                <a:solidFill>
                  <a:schemeClr val="bg1"/>
                </a:solidFill>
              </a:rPr>
              <a:t>src</a:t>
            </a:r>
            <a:r>
              <a:rPr lang="en-IN" sz="2000" dirty="0">
                <a:solidFill>
                  <a:schemeClr val="bg1"/>
                </a:solidFill>
              </a:rPr>
              <a:t>="img2.jpg" class="d-block w-100"&gt;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&lt;/div&gt;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&lt;/div&gt;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 &lt;!-- Controls --&gt;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&lt;button class="carousel-control-</a:t>
            </a:r>
            <a:r>
              <a:rPr lang="en-IN" sz="2000" dirty="0" err="1">
                <a:solidFill>
                  <a:schemeClr val="bg1"/>
                </a:solidFill>
              </a:rPr>
              <a:t>prev</a:t>
            </a:r>
            <a:r>
              <a:rPr lang="en-IN" sz="2000" dirty="0">
                <a:solidFill>
                  <a:schemeClr val="bg1"/>
                </a:solidFill>
              </a:rPr>
              <a:t>" data-bs-target="#</a:t>
            </a:r>
            <a:r>
              <a:rPr lang="en-IN" sz="2000" dirty="0" err="1">
                <a:solidFill>
                  <a:schemeClr val="bg1"/>
                </a:solidFill>
              </a:rPr>
              <a:t>myCarousel</a:t>
            </a:r>
            <a:r>
              <a:rPr lang="en-IN" sz="2000" dirty="0">
                <a:solidFill>
                  <a:schemeClr val="bg1"/>
                </a:solidFill>
              </a:rPr>
              <a:t>" data-bs-slide="</a:t>
            </a:r>
            <a:r>
              <a:rPr lang="en-IN" sz="2000" dirty="0" err="1">
                <a:solidFill>
                  <a:schemeClr val="bg1"/>
                </a:solidFill>
              </a:rPr>
              <a:t>prev</a:t>
            </a:r>
            <a:r>
              <a:rPr lang="en-IN" sz="2000" dirty="0">
                <a:solidFill>
                  <a:schemeClr val="bg1"/>
                </a:solidFill>
              </a:rPr>
              <a:t>"&gt;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&lt;span class="carousel-control-</a:t>
            </a:r>
            <a:r>
              <a:rPr lang="en-IN" sz="2000" dirty="0" err="1">
                <a:solidFill>
                  <a:schemeClr val="bg1"/>
                </a:solidFill>
              </a:rPr>
              <a:t>prev</a:t>
            </a:r>
            <a:r>
              <a:rPr lang="en-IN" sz="2000" dirty="0">
                <a:solidFill>
                  <a:schemeClr val="bg1"/>
                </a:solidFill>
              </a:rPr>
              <a:t>-icon"&gt;&lt;/span&gt;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&lt;/button&gt;</a:t>
            </a:r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4FAC288-2819-6343-1DC8-E4C0815A9EA4}"/>
              </a:ext>
            </a:extLst>
          </p:cNvPr>
          <p:cNvSpPr txBox="1"/>
          <p:nvPr/>
        </p:nvSpPr>
        <p:spPr>
          <a:xfrm>
            <a:off x="182880" y="-5435"/>
            <a:ext cx="11875008" cy="1631216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&lt;button class="carousel-control-next" data-bs-target="#</a:t>
            </a:r>
            <a:r>
              <a:rPr lang="en-US" sz="2000" dirty="0" err="1">
                <a:solidFill>
                  <a:schemeClr val="bg1"/>
                </a:solidFill>
              </a:rPr>
              <a:t>myCarousel</a:t>
            </a:r>
            <a:r>
              <a:rPr lang="en-US" sz="2000" dirty="0">
                <a:solidFill>
                  <a:schemeClr val="bg1"/>
                </a:solidFill>
              </a:rPr>
              <a:t>" data-bs-slide="next"&gt;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&lt;span class="carousel-control-next-icon"&gt;&lt;/span&gt;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&lt;/button&gt;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&lt;/div&gt;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F91DF1-53FF-D641-13BE-E449F133F1DC}"/>
              </a:ext>
            </a:extLst>
          </p:cNvPr>
          <p:cNvSpPr txBox="1"/>
          <p:nvPr/>
        </p:nvSpPr>
        <p:spPr>
          <a:xfrm>
            <a:off x="182880" y="1838236"/>
            <a:ext cx="11789664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🧠 Key Points (Carousel)</a:t>
            </a:r>
          </a:p>
          <a:p>
            <a:endParaRPr lang="en-IN" sz="24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.carousel → main container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.carousel-inner → holds slides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.carousel-item → each slide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.active → first visible slide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data-bs-ride="carousel" → auto start sliding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data-bs-slide="</a:t>
            </a:r>
            <a:r>
              <a:rPr lang="en-IN" dirty="0" err="1"/>
              <a:t>prev</a:t>
            </a:r>
            <a:r>
              <a:rPr lang="en-IN" dirty="0"/>
              <a:t>/next" → navigation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Fully responsive by default</a:t>
            </a: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BB024D4-C4BA-CCDA-6F1B-ED9C89572F20}"/>
              </a:ext>
            </a:extLst>
          </p:cNvPr>
          <p:cNvSpPr txBox="1"/>
          <p:nvPr/>
        </p:nvSpPr>
        <p:spPr>
          <a:xfrm>
            <a:off x="0" y="-12269"/>
            <a:ext cx="12192000" cy="101566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400" b="1" dirty="0"/>
              <a:t>Describe the purpose of utility classes in Bootstrap and give examples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DDA3E8-EDC8-38BA-9480-A247E8186394}"/>
              </a:ext>
            </a:extLst>
          </p:cNvPr>
          <p:cNvSpPr txBox="1"/>
          <p:nvPr/>
        </p:nvSpPr>
        <p:spPr>
          <a:xfrm>
            <a:off x="158496" y="2133291"/>
            <a:ext cx="11789664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✅ What are Utility Classes?</a:t>
            </a:r>
          </a:p>
          <a:p>
            <a:endParaRPr lang="en-US" b="1" dirty="0"/>
          </a:p>
          <a:p>
            <a:r>
              <a:rPr lang="en-US" sz="2000" b="1" dirty="0"/>
              <a:t>Utility classes</a:t>
            </a:r>
            <a:r>
              <a:rPr lang="en-US" sz="2000" dirty="0"/>
              <a:t> in Bootstrap are </a:t>
            </a:r>
            <a:r>
              <a:rPr lang="en-US" sz="2000" b="1" dirty="0"/>
              <a:t>single-purpose helper classes</a:t>
            </a:r>
            <a:r>
              <a:rPr lang="en-US" sz="2000" dirty="0"/>
              <a:t> that let you apply common CSS styles </a:t>
            </a:r>
            <a:r>
              <a:rPr lang="en-US" sz="2000" b="1" dirty="0"/>
              <a:t>directly in HTML</a:t>
            </a:r>
            <a:r>
              <a:rPr lang="en-US" sz="2000" dirty="0"/>
              <a:t>, without writing custom CSS.</a:t>
            </a:r>
          </a:p>
          <a:p>
            <a:endParaRPr lang="en-US" sz="2000" dirty="0"/>
          </a:p>
          <a:p>
            <a:r>
              <a:rPr lang="en-US" sz="2000" dirty="0"/>
              <a:t>They are mainly used to: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Control </a:t>
            </a:r>
            <a:r>
              <a:rPr lang="en-US" sz="2000" b="1" dirty="0"/>
              <a:t>spacing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Change </a:t>
            </a:r>
            <a:r>
              <a:rPr lang="en-US" sz="2000" b="1" dirty="0"/>
              <a:t>text alignment &amp; color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Handle </a:t>
            </a:r>
            <a:r>
              <a:rPr lang="en-US" sz="2000" b="1" dirty="0"/>
              <a:t>display &amp; positioning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Make layouts </a:t>
            </a:r>
            <a:r>
              <a:rPr lang="en-US" sz="2000" b="1" dirty="0"/>
              <a:t>responsive quickly</a:t>
            </a:r>
            <a:endParaRPr 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BCD9CA-8E36-C1DD-179A-3EDB9655B190}"/>
              </a:ext>
            </a:extLst>
          </p:cNvPr>
          <p:cNvSpPr txBox="1"/>
          <p:nvPr/>
        </p:nvSpPr>
        <p:spPr>
          <a:xfrm>
            <a:off x="158496" y="1241798"/>
            <a:ext cx="118750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🔹 Utility Classes in Bootstrap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DB0CB9-7DF2-AE62-8439-341CACF5A7C9}"/>
              </a:ext>
            </a:extLst>
          </p:cNvPr>
          <p:cNvSpPr txBox="1"/>
          <p:nvPr/>
        </p:nvSpPr>
        <p:spPr>
          <a:xfrm>
            <a:off x="304800" y="173058"/>
            <a:ext cx="11710416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🎯 Purpose of Utility Classes</a:t>
            </a:r>
          </a:p>
          <a:p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sz="2000" b="1" dirty="0"/>
              <a:t>Faster Development</a:t>
            </a:r>
          </a:p>
          <a:p>
            <a:pPr marL="342900" indent="-342900">
              <a:buFont typeface="+mj-lt"/>
              <a:buAutoNum type="arabicPeriod"/>
            </a:pPr>
            <a:endParaRPr lang="en-IN" sz="20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No need to write extra CSS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Apply styles instantly using class names</a:t>
            </a:r>
          </a:p>
          <a:p>
            <a:endParaRPr lang="en-IN" dirty="0"/>
          </a:p>
          <a:p>
            <a:pPr marL="457200" indent="-457200">
              <a:buFont typeface="+mj-lt"/>
              <a:buAutoNum type="arabicPeriod" startAt="2"/>
            </a:pPr>
            <a:r>
              <a:rPr lang="en-IN" sz="2000" b="1" dirty="0"/>
              <a:t>Consistency</a:t>
            </a:r>
          </a:p>
          <a:p>
            <a:endParaRPr lang="en-IN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Uses predefined spacing, </a:t>
            </a:r>
            <a:r>
              <a:rPr lang="en-IN" sz="2000" dirty="0" err="1"/>
              <a:t>colors</a:t>
            </a:r>
            <a:r>
              <a:rPr lang="en-IN" sz="2000" dirty="0"/>
              <a:t>, and alignment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Keeps design uniform across the website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dirty="0"/>
          </a:p>
          <a:p>
            <a:pPr marL="457200" indent="-457200">
              <a:buFont typeface="+mj-lt"/>
              <a:buAutoNum type="arabicPeriod" startAt="3"/>
            </a:pPr>
            <a:r>
              <a:rPr lang="en-IN" sz="2000" b="1" dirty="0"/>
              <a:t>Responsive Design</a:t>
            </a:r>
          </a:p>
          <a:p>
            <a:endParaRPr lang="en-IN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Utility classes work with breakpoints like </a:t>
            </a:r>
            <a:r>
              <a:rPr lang="en-IN" sz="2000" dirty="0" err="1"/>
              <a:t>sm</a:t>
            </a:r>
            <a:r>
              <a:rPr lang="en-IN" sz="2000" dirty="0"/>
              <a:t>, md, </a:t>
            </a:r>
            <a:r>
              <a:rPr lang="en-IN" sz="2000" dirty="0" err="1"/>
              <a:t>lg</a:t>
            </a: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Easy mobile-first styling</a:t>
            </a:r>
          </a:p>
          <a:p>
            <a:endParaRPr lang="en-IN" dirty="0"/>
          </a:p>
          <a:p>
            <a:pPr marL="457200" indent="-457200">
              <a:buFont typeface="+mj-lt"/>
              <a:buAutoNum type="arabicPeriod" startAt="4"/>
            </a:pPr>
            <a:r>
              <a:rPr lang="en-IN" sz="2000" b="1" dirty="0"/>
              <a:t>Less Custom CSS</a:t>
            </a:r>
          </a:p>
          <a:p>
            <a:endParaRPr lang="en-IN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Reduces stylesheet size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Cleaner and maintainable code</a:t>
            </a:r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4E41D5-C2BA-0443-BEA9-B08F1306321E}"/>
              </a:ext>
            </a:extLst>
          </p:cNvPr>
          <p:cNvSpPr txBox="1"/>
          <p:nvPr/>
        </p:nvSpPr>
        <p:spPr>
          <a:xfrm>
            <a:off x="0" y="-12269"/>
            <a:ext cx="12192000" cy="95410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000" b="1" dirty="0"/>
              <a:t>🧱 Common Bootstrap Utility Classes (With Examples)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E0DBF6-8246-6F28-FC06-33D153AF653F}"/>
              </a:ext>
            </a:extLst>
          </p:cNvPr>
          <p:cNvSpPr txBox="1"/>
          <p:nvPr/>
        </p:nvSpPr>
        <p:spPr>
          <a:xfrm>
            <a:off x="0" y="1205222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1️⃣ Spacing Utilities (Margin &amp; Padding)</a:t>
            </a:r>
            <a:endParaRPr lang="en-IN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4CCF47-5030-A867-5844-783669B89259}"/>
              </a:ext>
            </a:extLst>
          </p:cNvPr>
          <p:cNvSpPr txBox="1"/>
          <p:nvPr/>
        </p:nvSpPr>
        <p:spPr>
          <a:xfrm>
            <a:off x="121920" y="1769471"/>
            <a:ext cx="11893296" cy="1015663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&lt;div class="mt-3 p-4"&gt;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Content here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&lt;/div&gt;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8DF372D-AC44-8045-1E50-9C590154B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810116"/>
              </p:ext>
            </p:extLst>
          </p:nvPr>
        </p:nvGraphicFramePr>
        <p:xfrm>
          <a:off x="2032000" y="3219026"/>
          <a:ext cx="8128000" cy="185420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84965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66579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790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margin all sides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645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Mt-4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margin-top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049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padding all sides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431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Px-5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padding left &amp; right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2494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0CDFFC-E3E9-ABAA-C1C8-5A827B96E04F}"/>
              </a:ext>
            </a:extLst>
          </p:cNvPr>
          <p:cNvSpPr txBox="1"/>
          <p:nvPr/>
        </p:nvSpPr>
        <p:spPr>
          <a:xfrm>
            <a:off x="158496" y="284726"/>
            <a:ext cx="116189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2️⃣ Text Utilities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A61686-73D7-79BF-7876-680698CDE22F}"/>
              </a:ext>
            </a:extLst>
          </p:cNvPr>
          <p:cNvSpPr txBox="1"/>
          <p:nvPr/>
        </p:nvSpPr>
        <p:spPr>
          <a:xfrm>
            <a:off x="292608" y="1044047"/>
            <a:ext cx="11618976" cy="923330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&lt;p class="text-center text-primary </a:t>
            </a:r>
            <a:r>
              <a:rPr lang="en-US" b="1" dirty="0" err="1">
                <a:solidFill>
                  <a:schemeClr val="bg1"/>
                </a:solidFill>
              </a:rPr>
              <a:t>fw</a:t>
            </a:r>
            <a:r>
              <a:rPr lang="en-US" b="1" dirty="0">
                <a:solidFill>
                  <a:schemeClr val="bg1"/>
                </a:solidFill>
              </a:rPr>
              <a:t>-bold"&gt;</a:t>
            </a:r>
          </a:p>
          <a:p>
            <a:r>
              <a:rPr lang="en-US" b="1" dirty="0">
                <a:solidFill>
                  <a:schemeClr val="bg1"/>
                </a:solidFill>
              </a:rPr>
              <a:t>  Hello Bootstrap</a:t>
            </a:r>
          </a:p>
          <a:p>
            <a:r>
              <a:rPr lang="en-US" b="1" dirty="0">
                <a:solidFill>
                  <a:schemeClr val="bg1"/>
                </a:solidFill>
              </a:rPr>
              <a:t>&lt;/p&gt;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BAACF83-3289-D9AF-72B6-C967A86EEF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846369"/>
              </p:ext>
            </p:extLst>
          </p:nvPr>
        </p:nvGraphicFramePr>
        <p:xfrm>
          <a:off x="2032000" y="2121746"/>
          <a:ext cx="8128000" cy="185420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8520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6765811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230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text-</a:t>
                      </a:r>
                      <a:r>
                        <a:rPr lang="en-IN" dirty="0" err="1"/>
                        <a:t>center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center</a:t>
                      </a:r>
                      <a:r>
                        <a:rPr lang="en-IN" dirty="0"/>
                        <a:t>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929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text-danger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red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345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fw</a:t>
                      </a:r>
                      <a:r>
                        <a:rPr lang="en-IN" dirty="0"/>
                        <a:t>-bold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red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35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text-uppercase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uppercase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40344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76FB56E2-C502-B20B-A1AA-B2E16186DA28}"/>
              </a:ext>
            </a:extLst>
          </p:cNvPr>
          <p:cNvSpPr txBox="1"/>
          <p:nvPr/>
        </p:nvSpPr>
        <p:spPr>
          <a:xfrm>
            <a:off x="158496" y="4137398"/>
            <a:ext cx="116189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3️⃣ Display Utilities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207ED2-5F62-3561-0E55-DC2ADDD31ECB}"/>
              </a:ext>
            </a:extLst>
          </p:cNvPr>
          <p:cNvSpPr txBox="1"/>
          <p:nvPr/>
        </p:nvSpPr>
        <p:spPr>
          <a:xfrm>
            <a:off x="292608" y="4933295"/>
            <a:ext cx="11387328" cy="1015663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&lt;div class="d-none d-md-block"&gt;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  Visible only on tablets &amp; above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&lt;/div&gt;</a:t>
            </a:r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6F8B6D6-7F7F-E673-68E0-BA26485BA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707190"/>
              </p:ext>
            </p:extLst>
          </p:nvPr>
        </p:nvGraphicFramePr>
        <p:xfrm>
          <a:off x="2032000" y="719666"/>
          <a:ext cx="8128000" cy="148336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1850774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782207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378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d-none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hide element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44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d-block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show as block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3883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d-flex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flex layout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960030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00266C4-A6F0-CC22-6AD6-D096775962A9}"/>
              </a:ext>
            </a:extLst>
          </p:cNvPr>
          <p:cNvSpPr txBox="1"/>
          <p:nvPr/>
        </p:nvSpPr>
        <p:spPr>
          <a:xfrm>
            <a:off x="341376" y="2448806"/>
            <a:ext cx="1167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4️⃣ Flexbox Utilities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028EB6-EDE3-D90C-20E5-6761C6AF3CDD}"/>
              </a:ext>
            </a:extLst>
          </p:cNvPr>
          <p:cNvSpPr txBox="1"/>
          <p:nvPr/>
        </p:nvSpPr>
        <p:spPr>
          <a:xfrm>
            <a:off x="341376" y="2976479"/>
            <a:ext cx="11350752" cy="1015663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&lt;div class="d-flex justify-content-center align-items-center"&gt;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  Centered Content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&lt;/div&gt;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9CC4022-8C93-2023-406B-54FA294F5543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6641416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018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385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314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613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489368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C7C62A3-D591-E125-F0A4-84BAEC302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488202"/>
              </p:ext>
            </p:extLst>
          </p:nvPr>
        </p:nvGraphicFramePr>
        <p:xfrm>
          <a:off x="2038096" y="4371170"/>
          <a:ext cx="8128000" cy="148336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6641416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018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385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justify-content-</a:t>
                      </a:r>
                      <a:r>
                        <a:rPr lang="en-IN" dirty="0" err="1"/>
                        <a:t>center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horizontal </a:t>
                      </a:r>
                      <a:r>
                        <a:rPr lang="en-IN" dirty="0" err="1"/>
                        <a:t>center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314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align-items-</a:t>
                      </a:r>
                      <a:r>
                        <a:rPr lang="en-IN" dirty="0" err="1"/>
                        <a:t>center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vertical </a:t>
                      </a:r>
                      <a:r>
                        <a:rPr lang="en-IN" dirty="0" err="1"/>
                        <a:t>center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613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flex-column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column direction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489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3D86F99-2A11-C603-6EC9-DF97791A3547}"/>
              </a:ext>
            </a:extLst>
          </p:cNvPr>
          <p:cNvSpPr txBox="1"/>
          <p:nvPr/>
        </p:nvSpPr>
        <p:spPr>
          <a:xfrm>
            <a:off x="243840" y="187190"/>
            <a:ext cx="11692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5️⃣ </a:t>
            </a:r>
            <a:r>
              <a:rPr lang="en-IN" sz="2400" b="1" dirty="0" err="1"/>
              <a:t>Color</a:t>
            </a:r>
            <a:r>
              <a:rPr lang="en-IN" sz="2400" b="1" dirty="0"/>
              <a:t> &amp; Background Utilities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222D24-77BA-F0BD-1633-447DD655457E}"/>
              </a:ext>
            </a:extLst>
          </p:cNvPr>
          <p:cNvSpPr txBox="1"/>
          <p:nvPr/>
        </p:nvSpPr>
        <p:spPr>
          <a:xfrm>
            <a:off x="243840" y="690479"/>
            <a:ext cx="11692128" cy="1015663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&lt;div class="</a:t>
            </a:r>
            <a:r>
              <a:rPr lang="en-US" sz="2000" b="1" dirty="0" err="1">
                <a:solidFill>
                  <a:schemeClr val="bg1"/>
                </a:solidFill>
              </a:rPr>
              <a:t>bg</a:t>
            </a:r>
            <a:r>
              <a:rPr lang="en-US" sz="2000" b="1" dirty="0">
                <a:solidFill>
                  <a:schemeClr val="bg1"/>
                </a:solidFill>
              </a:rPr>
              <a:t>-warning text-dark p-3"&gt;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  Warning Box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&lt;/div&gt;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F70A232-0E07-CB51-A34C-997F044F8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033298"/>
              </p:ext>
            </p:extLst>
          </p:nvPr>
        </p:nvGraphicFramePr>
        <p:xfrm>
          <a:off x="2032000" y="1963250"/>
          <a:ext cx="8128000" cy="148336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0214766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2489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Effect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139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bg</a:t>
                      </a:r>
                      <a:r>
                        <a:rPr lang="en-IN" dirty="0"/>
                        <a:t>-success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green background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669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bg</a:t>
                      </a:r>
                      <a:r>
                        <a:rPr lang="en-IN" dirty="0"/>
                        <a:t>-dark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dark background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621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text-white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white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19887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399B494-A06E-7724-3BFE-C3C9F4A9610D}"/>
              </a:ext>
            </a:extLst>
          </p:cNvPr>
          <p:cNvSpPr txBox="1"/>
          <p:nvPr/>
        </p:nvSpPr>
        <p:spPr>
          <a:xfrm>
            <a:off x="243840" y="3747254"/>
            <a:ext cx="114482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6️⃣ Border &amp; Shadow Utilities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30A74F-A721-342E-0293-E949825B75DB}"/>
              </a:ext>
            </a:extLst>
          </p:cNvPr>
          <p:cNvSpPr txBox="1"/>
          <p:nvPr/>
        </p:nvSpPr>
        <p:spPr>
          <a:xfrm>
            <a:off x="243840" y="4421231"/>
            <a:ext cx="11448288" cy="923330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&lt;div class="border rounded shadow p-3"&gt;</a:t>
            </a:r>
          </a:p>
          <a:p>
            <a:r>
              <a:rPr lang="en-US" b="1" dirty="0">
                <a:solidFill>
                  <a:schemeClr val="bg1"/>
                </a:solidFill>
              </a:rPr>
              <a:t>  Card-like Box</a:t>
            </a:r>
          </a:p>
          <a:p>
            <a:r>
              <a:rPr lang="en-US" b="1" dirty="0">
                <a:solidFill>
                  <a:schemeClr val="bg1"/>
                </a:solidFill>
              </a:rPr>
              <a:t>&lt;/div&gt;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9CCF59A-DDB6-6DF6-F8E3-1762F313F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002501"/>
              </p:ext>
            </p:extLst>
          </p:nvPr>
        </p:nvGraphicFramePr>
        <p:xfrm>
          <a:off x="2032000" y="719666"/>
          <a:ext cx="8128000" cy="148336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56175546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2166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06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 border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15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rounded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rounded corners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496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shadow-</a:t>
                      </a:r>
                      <a:r>
                        <a:rPr lang="en-IN" dirty="0" err="1"/>
                        <a:t>lg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large shadow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924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5618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C69ECF-769A-B5D5-F862-7278DDF22B62}"/>
              </a:ext>
            </a:extLst>
          </p:cNvPr>
          <p:cNvSpPr txBox="1"/>
          <p:nvPr/>
        </p:nvSpPr>
        <p:spPr>
          <a:xfrm>
            <a:off x="0" y="-6173"/>
            <a:ext cx="12192000" cy="107721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800" dirty="0">
                <a:solidFill>
                  <a:schemeClr val="accent6">
                    <a:lumMod val="10000"/>
                  </a:schemeClr>
                </a:solidFill>
              </a:rPr>
              <a:t>Discuss the importance of customizing Bootstrap variables for unique styling.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229D51-1DEC-ED43-8224-80B074259CCA}"/>
              </a:ext>
            </a:extLst>
          </p:cNvPr>
          <p:cNvSpPr txBox="1"/>
          <p:nvPr/>
        </p:nvSpPr>
        <p:spPr>
          <a:xfrm>
            <a:off x="280416" y="1299109"/>
            <a:ext cx="1161897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🔹 Importance of Customizing Bootstrap Variables for Unique Styling</a:t>
            </a:r>
          </a:p>
          <a:p>
            <a:endParaRPr lang="en-IN" sz="2400" b="1" dirty="0"/>
          </a:p>
          <a:p>
            <a:r>
              <a:rPr lang="en-IN" sz="2000" dirty="0"/>
              <a:t>Bootstrap provides a powerful default design system, but </a:t>
            </a:r>
            <a:r>
              <a:rPr lang="en-IN" sz="2000" b="1" dirty="0"/>
              <a:t>customizing Bootstrap variables</a:t>
            </a:r>
            <a:r>
              <a:rPr lang="en-IN" sz="2000" dirty="0"/>
              <a:t> is essential when you want a website that looks </a:t>
            </a:r>
            <a:r>
              <a:rPr lang="en-IN" sz="2000" b="1" dirty="0"/>
              <a:t>unique, branded, and professional</a:t>
            </a:r>
            <a:r>
              <a:rPr lang="en-IN" sz="2000" dirty="0"/>
              <a:t> instead of “default Bootstrap”.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979CB9-2E02-5EB2-F583-900BBCE8C37F}"/>
              </a:ext>
            </a:extLst>
          </p:cNvPr>
          <p:cNvSpPr txBox="1"/>
          <p:nvPr/>
        </p:nvSpPr>
        <p:spPr>
          <a:xfrm>
            <a:off x="195072" y="2951863"/>
            <a:ext cx="117043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✅ What are Bootstrap Variables?</a:t>
            </a:r>
          </a:p>
          <a:p>
            <a:endParaRPr lang="en-IN" sz="2000" b="1" dirty="0"/>
          </a:p>
          <a:p>
            <a:r>
              <a:rPr lang="en-IN" sz="2000" dirty="0"/>
              <a:t>Bootstrap variables are </a:t>
            </a:r>
            <a:r>
              <a:rPr lang="en-IN" sz="2000" b="1" dirty="0"/>
              <a:t>Sass (SCSS) variables</a:t>
            </a:r>
            <a:r>
              <a:rPr lang="en-IN" sz="2000" dirty="0"/>
              <a:t> that control: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 </a:t>
            </a:r>
            <a:r>
              <a:rPr lang="en-IN" sz="2000" dirty="0" err="1"/>
              <a:t>Colors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 Fonts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 Spacing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 Border radius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 Breakpoints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 Component styles (buttons, cards, navbar, etc.)</a:t>
            </a:r>
          </a:p>
          <a:p>
            <a:r>
              <a:rPr lang="en-IN" sz="2000" dirty="0"/>
              <a:t>  By changing these variables </a:t>
            </a:r>
            <a:r>
              <a:rPr lang="en-IN" sz="2000" b="1" dirty="0"/>
              <a:t>before compiling Bootstrap</a:t>
            </a:r>
            <a:r>
              <a:rPr lang="en-IN" sz="2000" dirty="0"/>
              <a:t>, you can customize the entire look of your site.</a:t>
            </a:r>
          </a:p>
        </p:txBody>
      </p:sp>
    </p:spTree>
    <p:extLst>
      <p:ext uri="{BB962C8B-B14F-4D97-AF65-F5344CB8AC3E}">
        <p14:creationId xmlns:p14="http://schemas.microsoft.com/office/powerpoint/2010/main" val="3328263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469ED-926E-7CEE-5AF2-BF9AC726D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033FCA-2EB8-5396-734D-618A124B471D}"/>
              </a:ext>
            </a:extLst>
          </p:cNvPr>
          <p:cNvSpPr txBox="1"/>
          <p:nvPr/>
        </p:nvSpPr>
        <p:spPr>
          <a:xfrm>
            <a:off x="170688" y="260342"/>
            <a:ext cx="118445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🎯 Why Customizing Bootstrap Variables Is Important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CE6FB5-B09D-0788-1341-27BA2FBDBC91}"/>
              </a:ext>
            </a:extLst>
          </p:cNvPr>
          <p:cNvSpPr txBox="1"/>
          <p:nvPr/>
        </p:nvSpPr>
        <p:spPr>
          <a:xfrm>
            <a:off x="170688" y="969925"/>
            <a:ext cx="11631168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1️⃣ Creates a Unique Brand Identity</a:t>
            </a:r>
          </a:p>
          <a:p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sz="2000" dirty="0"/>
              <a:t>Default Bootstrap sites often look similar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 Custom variables allow: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Brand </a:t>
            </a:r>
            <a:r>
              <a:rPr lang="en-IN" sz="2000" dirty="0" err="1"/>
              <a:t>colors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Custom fonts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Unique button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333D2F-7837-07D6-4D83-5138AF8412F7}"/>
              </a:ext>
            </a:extLst>
          </p:cNvPr>
          <p:cNvSpPr txBox="1"/>
          <p:nvPr/>
        </p:nvSpPr>
        <p:spPr>
          <a:xfrm>
            <a:off x="170688" y="3438067"/>
            <a:ext cx="11631168" cy="707886"/>
          </a:xfrm>
          <a:prstGeom prst="rect">
            <a:avLst/>
          </a:prstGeom>
          <a:solidFill>
            <a:srgbClr val="000000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$// peach </a:t>
            </a:r>
            <a:r>
              <a:rPr lang="en-US" sz="2000" b="1" dirty="0" err="1">
                <a:solidFill>
                  <a:schemeClr val="bg1"/>
                </a:solidFill>
              </a:rPr>
              <a:t>backprimary</a:t>
            </a:r>
            <a:r>
              <a:rPr lang="en-US" sz="2000" b="1" dirty="0">
                <a:solidFill>
                  <a:schemeClr val="bg1"/>
                </a:solidFill>
              </a:rPr>
              <a:t>: #A67C00;   // gold brand color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$secondary: #FDE1D6; ground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015C65-9131-E981-4840-6BC71B999F9C}"/>
              </a:ext>
            </a:extLst>
          </p:cNvPr>
          <p:cNvSpPr txBox="1"/>
          <p:nvPr/>
        </p:nvSpPr>
        <p:spPr>
          <a:xfrm>
            <a:off x="170688" y="4811375"/>
            <a:ext cx="1163116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2️⃣ Global Styling from One Place</a:t>
            </a:r>
          </a:p>
          <a:p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000" dirty="0"/>
              <a:t>One variable change updates </a:t>
            </a:r>
            <a:r>
              <a:rPr lang="en-US" sz="2000" b="1" dirty="0"/>
              <a:t>all related components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No need to override CSS repeatedly</a:t>
            </a:r>
          </a:p>
        </p:txBody>
      </p:sp>
    </p:spTree>
    <p:extLst>
      <p:ext uri="{BB962C8B-B14F-4D97-AF65-F5344CB8AC3E}">
        <p14:creationId xmlns:p14="http://schemas.microsoft.com/office/powerpoint/2010/main" val="3064996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BA415F-558E-2A31-26F8-7A4D6B3FB133}"/>
              </a:ext>
            </a:extLst>
          </p:cNvPr>
          <p:cNvSpPr txBox="1"/>
          <p:nvPr/>
        </p:nvSpPr>
        <p:spPr>
          <a:xfrm>
            <a:off x="390144" y="147566"/>
            <a:ext cx="11472672" cy="923330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$border-radius: 1rem;</a:t>
            </a:r>
          </a:p>
          <a:p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06CAC1-4139-E424-5CC9-3A04175628BC}"/>
              </a:ext>
            </a:extLst>
          </p:cNvPr>
          <p:cNvSpPr txBox="1"/>
          <p:nvPr/>
        </p:nvSpPr>
        <p:spPr>
          <a:xfrm>
            <a:off x="390144" y="1265212"/>
            <a:ext cx="114726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3️⃣ Better Maintainability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000" dirty="0"/>
              <a:t>Cleaner codebase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Easy future design changes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Less custom CSS overrides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459BD5-79CB-92DF-665A-74E3D0A1D6DB}"/>
              </a:ext>
            </a:extLst>
          </p:cNvPr>
          <p:cNvSpPr txBox="1"/>
          <p:nvPr/>
        </p:nvSpPr>
        <p:spPr>
          <a:xfrm>
            <a:off x="390144" y="3163747"/>
            <a:ext cx="11472672" cy="707886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en-US" b="1" dirty="0"/>
              <a:t>.</a:t>
            </a:r>
            <a:r>
              <a:rPr lang="en-US" sz="2000" b="1" dirty="0" err="1">
                <a:solidFill>
                  <a:schemeClr val="bg1"/>
                </a:solidFill>
              </a:rPr>
              <a:t>btn</a:t>
            </a:r>
            <a:r>
              <a:rPr lang="en-US" sz="2000" b="1" dirty="0">
                <a:solidFill>
                  <a:schemeClr val="bg1"/>
                </a:solidFill>
              </a:rPr>
              <a:t> { background: #A67C00; }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.card { background: #A67C00;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8D771D-1412-AC73-707A-40B7F63936E9}"/>
              </a:ext>
            </a:extLst>
          </p:cNvPr>
          <p:cNvSpPr txBox="1"/>
          <p:nvPr/>
        </p:nvSpPr>
        <p:spPr>
          <a:xfrm>
            <a:off x="390144" y="4024991"/>
            <a:ext cx="1147267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4️⃣ Improved Consistency Across Components</a:t>
            </a:r>
          </a:p>
          <a:p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Ensures uniform spacing, typography, and colors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Prevents design mismatches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61ABBF-0380-EC4C-1B21-7654CC4E948A}"/>
              </a:ext>
            </a:extLst>
          </p:cNvPr>
          <p:cNvSpPr txBox="1"/>
          <p:nvPr/>
        </p:nvSpPr>
        <p:spPr>
          <a:xfrm>
            <a:off x="390144" y="5711875"/>
            <a:ext cx="11472672" cy="707886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$font-family-base: 'Poppins', sans-serif;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$headings-font-weight: 600;</a:t>
            </a:r>
          </a:p>
        </p:txBody>
      </p:sp>
    </p:spTree>
    <p:extLst>
      <p:ext uri="{BB962C8B-B14F-4D97-AF65-F5344CB8AC3E}">
        <p14:creationId xmlns:p14="http://schemas.microsoft.com/office/powerpoint/2010/main" val="3267163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C1BDC0-1F90-C90F-E0B3-DF7B382F524D}"/>
              </a:ext>
            </a:extLst>
          </p:cNvPr>
          <p:cNvSpPr txBox="1"/>
          <p:nvPr/>
        </p:nvSpPr>
        <p:spPr>
          <a:xfrm>
            <a:off x="390144" y="216700"/>
            <a:ext cx="1141171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5️⃣ Performance Optimization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000" dirty="0"/>
              <a:t>Compile only what you need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Remove unused styles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Smaller CSS file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91947-FA21-179A-30A4-6387D35CB00E}"/>
              </a:ext>
            </a:extLst>
          </p:cNvPr>
          <p:cNvSpPr txBox="1"/>
          <p:nvPr/>
        </p:nvSpPr>
        <p:spPr>
          <a:xfrm>
            <a:off x="499872" y="2017699"/>
            <a:ext cx="11301984" cy="646331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$enable-rounded: true;</a:t>
            </a:r>
          </a:p>
          <a:p>
            <a:r>
              <a:rPr lang="en-IN" b="1" dirty="0">
                <a:solidFill>
                  <a:schemeClr val="bg1"/>
                </a:solidFill>
              </a:rPr>
              <a:t>$enable-shadows: false;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731D06-A1C1-4B05-0BC3-FDD80F24DE77}"/>
              </a:ext>
            </a:extLst>
          </p:cNvPr>
          <p:cNvSpPr txBox="1"/>
          <p:nvPr/>
        </p:nvSpPr>
        <p:spPr>
          <a:xfrm>
            <a:off x="499872" y="3114979"/>
            <a:ext cx="113019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6️⃣ Responsive Control</a:t>
            </a:r>
          </a:p>
          <a:p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Customize breakpoints for different devices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477351-588C-EB04-3EB4-55FAABD967A0}"/>
              </a:ext>
            </a:extLst>
          </p:cNvPr>
          <p:cNvSpPr txBox="1"/>
          <p:nvPr/>
        </p:nvSpPr>
        <p:spPr>
          <a:xfrm>
            <a:off x="499872" y="4275666"/>
            <a:ext cx="11301984" cy="2246769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$grid-breakpoints: (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</a:t>
            </a:r>
            <a:r>
              <a:rPr lang="en-IN" sz="2000" b="1" dirty="0" err="1">
                <a:solidFill>
                  <a:schemeClr val="bg1"/>
                </a:solidFill>
              </a:rPr>
              <a:t>xs</a:t>
            </a:r>
            <a:r>
              <a:rPr lang="en-IN" sz="2000" b="1" dirty="0">
                <a:solidFill>
                  <a:schemeClr val="bg1"/>
                </a:solidFill>
              </a:rPr>
              <a:t>: 0,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</a:t>
            </a:r>
            <a:r>
              <a:rPr lang="en-IN" sz="2000" b="1" dirty="0" err="1">
                <a:solidFill>
                  <a:schemeClr val="bg1"/>
                </a:solidFill>
              </a:rPr>
              <a:t>sm</a:t>
            </a:r>
            <a:r>
              <a:rPr lang="en-IN" sz="2000" b="1" dirty="0">
                <a:solidFill>
                  <a:schemeClr val="bg1"/>
                </a:solidFill>
              </a:rPr>
              <a:t>: 360px,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md: 768px,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</a:t>
            </a:r>
            <a:r>
              <a:rPr lang="en-IN" sz="2000" b="1" dirty="0" err="1">
                <a:solidFill>
                  <a:schemeClr val="bg1"/>
                </a:solidFill>
              </a:rPr>
              <a:t>lg</a:t>
            </a:r>
            <a:r>
              <a:rPr lang="en-IN" sz="2000" b="1" dirty="0">
                <a:solidFill>
                  <a:schemeClr val="bg1"/>
                </a:solidFill>
              </a:rPr>
              <a:t>: 1024px,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xl: 1440px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70260642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{97A71039-41F5-4A89-B9EA-ED2663FDC5D7}tf11964407_win32</Template>
  <TotalTime>162</TotalTime>
  <Words>1267</Words>
  <Application>Microsoft Office PowerPoint</Application>
  <PresentationFormat>Widescreen</PresentationFormat>
  <Paragraphs>304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Courier New</vt:lpstr>
      <vt:lpstr>Gill Sans Nova Light</vt:lpstr>
      <vt:lpstr>Sagona Book</vt:lpstr>
      <vt:lpstr>Wingdings</vt:lpstr>
      <vt:lpstr>Custom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Varma Vishal</dc:creator>
  <cp:lastModifiedBy>Varma Vishal</cp:lastModifiedBy>
  <cp:revision>1</cp:revision>
  <dcterms:created xsi:type="dcterms:W3CDTF">2025-12-17T16:40:59Z</dcterms:created>
  <dcterms:modified xsi:type="dcterms:W3CDTF">2025-12-17T19:23:04Z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