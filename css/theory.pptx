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65" r:id="rId4"/>
  </p:sldMasterIdLst>
  <p:notesMasterIdLst>
    <p:notesMasterId r:id="rId19"/>
  </p:notesMasterIdLst>
  <p:sldIdLst>
    <p:sldId id="278" r:id="rId5"/>
    <p:sldId id="280" r:id="rId6"/>
    <p:sldId id="282" r:id="rId7"/>
    <p:sldId id="283" r:id="rId8"/>
    <p:sldId id="284" r:id="rId9"/>
    <p:sldId id="285" r:id="rId10"/>
    <p:sldId id="286" r:id="rId11"/>
    <p:sldId id="287" r:id="rId12"/>
    <p:sldId id="288" r:id="rId13"/>
    <p:sldId id="289" r:id="rId14"/>
    <p:sldId id="290" r:id="rId15"/>
    <p:sldId id="291" r:id="rId16"/>
    <p:sldId id="292" r:id="rId17"/>
    <p:sldId id="29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9" autoAdjust="0"/>
  </p:normalViewPr>
  <p:slideViewPr>
    <p:cSldViewPr snapToGrid="0">
      <p:cViewPr varScale="1">
        <p:scale>
          <a:sx n="81" d="100"/>
          <a:sy n="81" d="100"/>
        </p:scale>
        <p:origin x="114" y="5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8/22/2025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567614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29923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91349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8/22/2025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78840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8/22/2025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83699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8/22/2025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603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8/22/2025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5040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8/22/2025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24787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8/22/2025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83985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3ED0CC-082F-4160-86E5-0D6041F12778}" type="datetime1">
              <a:rPr lang="en-US" smtClean="0"/>
              <a:t>8/22/2025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0535709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3ED0CC-082F-4160-86E5-0D6041F12778}" type="datetime1">
              <a:rPr lang="en-US" smtClean="0"/>
              <a:t>8/22/2025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0540902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3ED0CC-082F-4160-86E5-0D6041F12778}" type="datetime1">
              <a:rPr lang="en-US" smtClean="0"/>
              <a:t>8/22/2025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05063122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3ED0CC-082F-4160-86E5-0D6041F12778}" type="datetime1">
              <a:rPr lang="en-US" smtClean="0"/>
              <a:t>8/22/2025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8568302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73ED0CC-082F-4160-86E5-0D6041F12778}" type="datetime1">
              <a:rPr lang="en-US" smtClean="0"/>
              <a:t>8/22/2025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7869473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73ED0CC-082F-4160-86E5-0D6041F12778}" type="datetime1">
              <a:rPr lang="en-US" smtClean="0"/>
              <a:t>8/22/2025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6632383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3ED0CC-082F-4160-86E5-0D6041F12778}" type="datetime1">
              <a:rPr lang="en-US" smtClean="0"/>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041732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3ED0CC-082F-4160-86E5-0D6041F12778}" type="datetime1">
              <a:rPr lang="en-US" smtClean="0"/>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86926184"/>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8/22/2025</a:t>
            </a:fld>
            <a:endParaRPr lang="en-US" dirty="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4255961011"/>
      </p:ext>
    </p:extLst>
  </p:cSld>
  <p:clrMap bg1="dk1" tx1="lt1" bg2="dk2" tx2="lt2" accent1="accent1" accent2="accent2" accent3="accent3" accent4="accent4" accent5="accent5" accent6="accent6" hlink="hlink" folHlink="folHlink"/>
  <p:sldLayoutIdLst>
    <p:sldLayoutId id="2147484066" r:id="rId1"/>
    <p:sldLayoutId id="2147484067" r:id="rId2"/>
    <p:sldLayoutId id="2147484068" r:id="rId3"/>
    <p:sldLayoutId id="2147484069" r:id="rId4"/>
    <p:sldLayoutId id="2147484070" r:id="rId5"/>
    <p:sldLayoutId id="2147484071" r:id="rId6"/>
    <p:sldLayoutId id="2147484072" r:id="rId7"/>
    <p:sldLayoutId id="2147484073" r:id="rId8"/>
    <p:sldLayoutId id="2147484074" r:id="rId9"/>
    <p:sldLayoutId id="2147484075" r:id="rId10"/>
    <p:sldLayoutId id="2147484076" r:id="rId11"/>
    <p:sldLayoutId id="2147484077" r:id="rId12"/>
    <p:sldLayoutId id="2147484078" r:id="rId13"/>
    <p:sldLayoutId id="2147484079" r:id="rId14"/>
    <p:sldLayoutId id="2147484080" r:id="rId15"/>
    <p:sldLayoutId id="2147484081" r:id="rId16"/>
    <p:sldLayoutId id="2147484082" r:id="rId17"/>
  </p:sldLayoutIdLst>
  <p:hf sldNum="0" hdr="0" ftr="0" dt="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1C807-B9AD-4C9B-BF9F-60F03428998E}"/>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0" y="0"/>
            <a:ext cx="12192000" cy="6865186"/>
          </a:xfrm>
          <a:prstGeom prst="rect">
            <a:avLst/>
          </a:prstGeom>
          <a:ln>
            <a:noFill/>
          </a:ln>
          <a:effectLst>
            <a:outerShdw blurRad="190500" algn="tl" rotWithShape="0">
              <a:srgbClr val="000000">
                <a:alpha val="70000"/>
              </a:srgbClr>
            </a:outerShdw>
          </a:effectLst>
        </p:spPr>
      </p:pic>
      <p:sp>
        <p:nvSpPr>
          <p:cNvPr id="4" name="TextBox 3">
            <a:extLst>
              <a:ext uri="{FF2B5EF4-FFF2-40B4-BE49-F238E27FC236}">
                <a16:creationId xmlns:a16="http://schemas.microsoft.com/office/drawing/2014/main" id="{F150E1E1-34BD-4DB8-8EC4-6F03D95699EE}"/>
              </a:ext>
            </a:extLst>
          </p:cNvPr>
          <p:cNvSpPr txBox="1"/>
          <p:nvPr/>
        </p:nvSpPr>
        <p:spPr>
          <a:xfrm>
            <a:off x="1482560" y="150916"/>
            <a:ext cx="8973354" cy="1200329"/>
          </a:xfrm>
          <a:prstGeom prst="rect">
            <a:avLst/>
          </a:prstGeom>
          <a:noFill/>
        </p:spPr>
        <p:txBody>
          <a:bodyPr wrap="none" rtlCol="0">
            <a:spAutoFit/>
          </a:bodyPr>
          <a:lstStyle/>
          <a:p>
            <a:r>
              <a:rPr lang="en-IN" sz="7200" b="1" u="sng" dirty="0">
                <a:solidFill>
                  <a:schemeClr val="bg1"/>
                </a:solidFill>
                <a:latin typeface="Arial" panose="020B0604020202020204" pitchFamily="34" charset="0"/>
                <a:cs typeface="Arial" panose="020B0604020202020204" pitchFamily="34" charset="0"/>
              </a:rPr>
              <a:t>CSS  ASSIGNMENT</a:t>
            </a:r>
          </a:p>
        </p:txBody>
      </p:sp>
      <p:sp>
        <p:nvSpPr>
          <p:cNvPr id="6" name="TextBox 5">
            <a:extLst>
              <a:ext uri="{FF2B5EF4-FFF2-40B4-BE49-F238E27FC236}">
                <a16:creationId xmlns:a16="http://schemas.microsoft.com/office/drawing/2014/main" id="{935D92C9-EEB7-DAA8-04EB-3D7B932D58B6}"/>
              </a:ext>
            </a:extLst>
          </p:cNvPr>
          <p:cNvSpPr txBox="1"/>
          <p:nvPr/>
        </p:nvSpPr>
        <p:spPr>
          <a:xfrm>
            <a:off x="133081" y="2334826"/>
            <a:ext cx="1962397" cy="584775"/>
          </a:xfrm>
          <a:prstGeom prst="rect">
            <a:avLst/>
          </a:prstGeom>
          <a:noFill/>
        </p:spPr>
        <p:txBody>
          <a:bodyPr wrap="none" rtlCol="0">
            <a:spAutoFit/>
          </a:bodyPr>
          <a:lstStyle/>
          <a:p>
            <a:pPr marL="457200" indent="-457200">
              <a:buFont typeface="Wingdings" panose="05000000000000000000" pitchFamily="2" charset="2"/>
              <a:buChar char="q"/>
            </a:pPr>
            <a:r>
              <a:rPr lang="en-IN" sz="3200" b="1" dirty="0">
                <a:solidFill>
                  <a:schemeClr val="bg1"/>
                </a:solidFill>
              </a:rPr>
              <a:t>Theory</a:t>
            </a:r>
          </a:p>
        </p:txBody>
      </p:sp>
      <p:sp>
        <p:nvSpPr>
          <p:cNvPr id="7" name="TextBox 6">
            <a:extLst>
              <a:ext uri="{FF2B5EF4-FFF2-40B4-BE49-F238E27FC236}">
                <a16:creationId xmlns:a16="http://schemas.microsoft.com/office/drawing/2014/main" id="{58F10BE6-9D4E-7679-C8BB-85B68AC8214C}"/>
              </a:ext>
            </a:extLst>
          </p:cNvPr>
          <p:cNvSpPr txBox="1"/>
          <p:nvPr/>
        </p:nvSpPr>
        <p:spPr>
          <a:xfrm>
            <a:off x="195300" y="3192952"/>
            <a:ext cx="9305753" cy="923330"/>
          </a:xfrm>
          <a:prstGeom prst="rect">
            <a:avLst/>
          </a:prstGeom>
          <a:noFill/>
        </p:spPr>
        <p:txBody>
          <a:bodyPr wrap="none" spcCol="396000" rtlCol="0">
            <a:spAutoFit/>
          </a:bodyPr>
          <a:lstStyle/>
          <a:p>
            <a:pPr marL="514350" indent="-514350">
              <a:buFont typeface="+mj-lt"/>
              <a:buAutoNum type="arabicPeriod"/>
            </a:pPr>
            <a:r>
              <a:rPr lang="en-GB" b="1" dirty="0">
                <a:solidFill>
                  <a:schemeClr val="bg1"/>
                </a:solidFill>
              </a:rPr>
              <a:t>Explain the difference between inline, internal, and external CSS. </a:t>
            </a:r>
          </a:p>
          <a:p>
            <a:pPr marL="514350" indent="-514350">
              <a:buFont typeface="+mj-lt"/>
              <a:buAutoNum type="arabicPeriod"/>
            </a:pPr>
            <a:r>
              <a:rPr lang="en-GB" b="1" dirty="0">
                <a:solidFill>
                  <a:schemeClr val="bg1"/>
                </a:solidFill>
              </a:rPr>
              <a:t>Describe CSS selectors and list the types of selectors (e.g., element, class, id). </a:t>
            </a:r>
          </a:p>
          <a:p>
            <a:pPr marL="514350" indent="-514350">
              <a:buFont typeface="+mj-lt"/>
              <a:buAutoNum type="arabicPeriod" startAt="3"/>
            </a:pPr>
            <a:r>
              <a:rPr lang="en-GB" b="1" dirty="0">
                <a:solidFill>
                  <a:schemeClr val="bg1"/>
                </a:solidFill>
              </a:rPr>
              <a:t>Discuss the CSS box model and its components.</a:t>
            </a:r>
            <a:endParaRPr lang="en-IN" b="1" dirty="0">
              <a:solidFill>
                <a:schemeClr val="bg1"/>
              </a:solidFill>
            </a:endParaRPr>
          </a:p>
        </p:txBody>
      </p:sp>
    </p:spTree>
    <p:extLst>
      <p:ext uri="{BB962C8B-B14F-4D97-AF65-F5344CB8AC3E}">
        <p14:creationId xmlns:p14="http://schemas.microsoft.com/office/powerpoint/2010/main" val="4167884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EEE3E70-16B6-8E8C-C739-2C2987E37FA2}"/>
              </a:ext>
              <a:ext uri="{C183D7F6-B498-43B3-948B-1728B52AA6E4}">
                <adec:decorative xmlns:adec="http://schemas.microsoft.com/office/drawing/2017/decorative" val="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66426"/>
          <a:stretch/>
        </p:blipFill>
        <p:spPr>
          <a:xfrm>
            <a:off x="0" y="0"/>
            <a:ext cx="12192000" cy="2035834"/>
          </a:xfrm>
          <a:prstGeom prst="rect">
            <a:avLst/>
          </a:prstGeom>
          <a:ln>
            <a:noFill/>
          </a:ln>
          <a:effectLst>
            <a:outerShdw blurRad="50800" dist="38100" dir="2700000" algn="tl" rotWithShape="0">
              <a:prstClr val="black">
                <a:alpha val="40000"/>
              </a:prstClr>
            </a:outerShdw>
          </a:effectLst>
        </p:spPr>
      </p:pic>
      <p:sp>
        <p:nvSpPr>
          <p:cNvPr id="6" name="TextBox 5">
            <a:extLst>
              <a:ext uri="{FF2B5EF4-FFF2-40B4-BE49-F238E27FC236}">
                <a16:creationId xmlns:a16="http://schemas.microsoft.com/office/drawing/2014/main" id="{4CFC3633-4A28-EAFF-C3A8-FC2CA5BE7FDF}"/>
              </a:ext>
            </a:extLst>
          </p:cNvPr>
          <p:cNvSpPr txBox="1"/>
          <p:nvPr/>
        </p:nvSpPr>
        <p:spPr>
          <a:xfrm>
            <a:off x="51770" y="2196233"/>
            <a:ext cx="6068683" cy="461665"/>
          </a:xfrm>
          <a:prstGeom prst="rect">
            <a:avLst/>
          </a:prstGeom>
          <a:noFill/>
        </p:spPr>
        <p:txBody>
          <a:bodyPr wrap="square">
            <a:spAutoFit/>
          </a:bodyPr>
          <a:lstStyle/>
          <a:p>
            <a:r>
              <a:rPr lang="en-IN" sz="2400" dirty="0">
                <a:latin typeface="Arial" panose="020B0604020202020204" pitchFamily="34" charset="0"/>
                <a:cs typeface="Arial" panose="020B0604020202020204" pitchFamily="34" charset="0"/>
              </a:rPr>
              <a:t>1. </a:t>
            </a:r>
            <a:r>
              <a:rPr lang="en-IN" sz="2000" b="1" i="1" dirty="0">
                <a:latin typeface="Arial" panose="020B0604020202020204" pitchFamily="34" charset="0"/>
                <a:cs typeface="Arial" panose="020B0604020202020204" pitchFamily="34" charset="0"/>
              </a:rPr>
              <a:t>Inline</a:t>
            </a:r>
            <a:r>
              <a:rPr lang="en-IN" sz="2400" dirty="0">
                <a:latin typeface="Arial" panose="020B0604020202020204" pitchFamily="34" charset="0"/>
                <a:cs typeface="Arial" panose="020B0604020202020204" pitchFamily="34" charset="0"/>
              </a:rPr>
              <a:t> </a:t>
            </a:r>
            <a:r>
              <a:rPr lang="en-IN" sz="2000" b="1" i="1" dirty="0">
                <a:latin typeface="Arial" panose="020B0604020202020204" pitchFamily="34" charset="0"/>
                <a:cs typeface="Arial" panose="020B0604020202020204" pitchFamily="34" charset="0"/>
              </a:rPr>
              <a:t>CSS</a:t>
            </a:r>
          </a:p>
        </p:txBody>
      </p:sp>
      <p:sp>
        <p:nvSpPr>
          <p:cNvPr id="18" name="TextBox 17">
            <a:extLst>
              <a:ext uri="{FF2B5EF4-FFF2-40B4-BE49-F238E27FC236}">
                <a16:creationId xmlns:a16="http://schemas.microsoft.com/office/drawing/2014/main" id="{2E2B85E6-D6FA-09BE-34FD-6EA044A13BF9}"/>
              </a:ext>
            </a:extLst>
          </p:cNvPr>
          <p:cNvSpPr txBox="1"/>
          <p:nvPr/>
        </p:nvSpPr>
        <p:spPr>
          <a:xfrm>
            <a:off x="224287" y="742203"/>
            <a:ext cx="11731924" cy="523220"/>
          </a:xfrm>
          <a:prstGeom prst="rect">
            <a:avLst/>
          </a:prstGeom>
          <a:noFill/>
        </p:spPr>
        <p:txBody>
          <a:bodyPr wrap="square">
            <a:spAutoFit/>
          </a:bodyPr>
          <a:lstStyle/>
          <a:p>
            <a:r>
              <a:rPr lang="en-GB" sz="2800" b="1" dirty="0">
                <a:solidFill>
                  <a:schemeClr val="bg1"/>
                </a:solidFill>
                <a:latin typeface="Arial" panose="020B0604020202020204" pitchFamily="34" charset="0"/>
                <a:cs typeface="Arial" panose="020B0604020202020204" pitchFamily="34" charset="0"/>
              </a:rPr>
              <a:t>1. </a:t>
            </a:r>
            <a:r>
              <a:rPr lang="en-GB" sz="2800" b="1" i="1" dirty="0">
                <a:solidFill>
                  <a:schemeClr val="bg1"/>
                </a:solidFill>
                <a:latin typeface="Arial" panose="020B0604020202020204" pitchFamily="34" charset="0"/>
                <a:cs typeface="Arial" panose="020B0604020202020204" pitchFamily="34" charset="0"/>
              </a:rPr>
              <a:t>Explain</a:t>
            </a:r>
            <a:r>
              <a:rPr lang="en-GB" sz="2800" b="1" dirty="0">
                <a:solidFill>
                  <a:schemeClr val="bg1"/>
                </a:solidFill>
                <a:latin typeface="Arial" panose="020B0604020202020204" pitchFamily="34" charset="0"/>
                <a:cs typeface="Arial" panose="020B0604020202020204" pitchFamily="34" charset="0"/>
              </a:rPr>
              <a:t> the difference between inline, internal, and external CSS.</a:t>
            </a:r>
            <a:endParaRPr lang="en-IN" sz="2800" b="1" dirty="0">
              <a:solidFill>
                <a:schemeClr val="bg1"/>
              </a:solidFill>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62146FB4-DE88-73E8-29B3-D0C321E2FBE2}"/>
              </a:ext>
            </a:extLst>
          </p:cNvPr>
          <p:cNvSpPr txBox="1"/>
          <p:nvPr/>
        </p:nvSpPr>
        <p:spPr>
          <a:xfrm>
            <a:off x="776376" y="4065817"/>
            <a:ext cx="10627745" cy="369332"/>
          </a:xfrm>
          <a:prstGeom prst="rect">
            <a:avLst/>
          </a:prstGeom>
          <a:ln>
            <a:noFill/>
          </a:ln>
          <a:effectLst>
            <a:outerShdw blurRad="44450" dist="27940" dir="5400000" algn="ctr">
              <a:srgbClr val="000000">
                <a:alpha val="32000"/>
              </a:srgbClr>
            </a:outerShdw>
          </a:effectLst>
        </p:spPr>
        <p:style>
          <a:lnRef idx="3">
            <a:schemeClr val="lt1"/>
          </a:lnRef>
          <a:fillRef idx="1">
            <a:schemeClr val="dk1"/>
          </a:fillRef>
          <a:effectRef idx="1">
            <a:schemeClr val="dk1"/>
          </a:effectRef>
          <a:fontRef idx="minor">
            <a:schemeClr val="lt1"/>
          </a:fontRef>
        </p:style>
        <p:txBody>
          <a:bodyPr wrap="square">
            <a:spAutoFit/>
          </a:bodyPr>
          <a:lstStyle/>
          <a:p>
            <a:r>
              <a:rPr lang="en-GB" i="1" dirty="0"/>
              <a:t>&lt;p </a:t>
            </a:r>
            <a:r>
              <a:rPr lang="en-GB" i="1" dirty="0">
                <a:ln>
                  <a:solidFill>
                    <a:srgbClr val="FF0000"/>
                  </a:solidFill>
                </a:ln>
              </a:rPr>
              <a:t>style</a:t>
            </a:r>
            <a:r>
              <a:rPr lang="en-GB" i="1" dirty="0"/>
              <a:t>= </a:t>
            </a:r>
            <a:r>
              <a:rPr lang="en-GB" i="1" dirty="0">
                <a:solidFill>
                  <a:srgbClr val="00B050"/>
                </a:solidFill>
              </a:rPr>
              <a:t>“ </a:t>
            </a:r>
            <a:r>
              <a:rPr lang="en-GB" i="1" dirty="0" err="1">
                <a:solidFill>
                  <a:srgbClr val="00B050"/>
                </a:solidFill>
              </a:rPr>
              <a:t>color</a:t>
            </a:r>
            <a:r>
              <a:rPr lang="en-GB" i="1" dirty="0">
                <a:solidFill>
                  <a:srgbClr val="00B050"/>
                </a:solidFill>
              </a:rPr>
              <a:t>: blue; font-size: 18px;“ </a:t>
            </a:r>
            <a:r>
              <a:rPr lang="en-GB" i="1" dirty="0"/>
              <a:t>&gt;This is inline CSS.&lt;/p&gt;</a:t>
            </a:r>
          </a:p>
        </p:txBody>
      </p:sp>
      <p:sp>
        <p:nvSpPr>
          <p:cNvPr id="23" name="TextBox 22">
            <a:extLst>
              <a:ext uri="{FF2B5EF4-FFF2-40B4-BE49-F238E27FC236}">
                <a16:creationId xmlns:a16="http://schemas.microsoft.com/office/drawing/2014/main" id="{442C905B-8C06-BEF9-36CF-580C978D804E}"/>
              </a:ext>
            </a:extLst>
          </p:cNvPr>
          <p:cNvSpPr txBox="1"/>
          <p:nvPr/>
        </p:nvSpPr>
        <p:spPr>
          <a:xfrm>
            <a:off x="284673" y="2717643"/>
            <a:ext cx="11907328" cy="400110"/>
          </a:xfrm>
          <a:prstGeom prst="rect">
            <a:avLst/>
          </a:prstGeom>
          <a:noFill/>
        </p:spPr>
        <p:txBody>
          <a:bodyPr wrap="square">
            <a:spAutoFit/>
          </a:bodyPr>
          <a:lstStyle/>
          <a:p>
            <a:pPr marL="342900" indent="-342900">
              <a:buFont typeface="Wingdings" panose="05000000000000000000" pitchFamily="2" charset="2"/>
              <a:buChar char="§"/>
            </a:pPr>
            <a:r>
              <a:rPr lang="en-GB" sz="2000" b="1" dirty="0">
                <a:latin typeface="Arial" panose="020B0604020202020204" pitchFamily="34" charset="0"/>
                <a:cs typeface="Arial" panose="020B0604020202020204" pitchFamily="34" charset="0"/>
              </a:rPr>
              <a:t>Definition</a:t>
            </a:r>
            <a:r>
              <a:rPr lang="en-GB" sz="2000" b="1" dirty="0"/>
              <a:t>:</a:t>
            </a:r>
            <a:r>
              <a:rPr lang="en-GB" dirty="0"/>
              <a:t> </a:t>
            </a:r>
            <a:r>
              <a:rPr lang="en-GB" sz="2000" dirty="0" err="1">
                <a:latin typeface="Arial" panose="020B0604020202020204" pitchFamily="34" charset="0"/>
                <a:cs typeface="Arial" panose="020B0604020202020204" pitchFamily="34" charset="0"/>
              </a:rPr>
              <a:t>Css</a:t>
            </a:r>
            <a:r>
              <a:rPr lang="en-GB" sz="2000" dirty="0">
                <a:latin typeface="Arial" panose="020B0604020202020204" pitchFamily="34" charset="0"/>
                <a:cs typeface="Arial" panose="020B0604020202020204" pitchFamily="34" charset="0"/>
              </a:rPr>
              <a:t> styles are applied directly to HTML elements using the style attribute</a:t>
            </a:r>
            <a:r>
              <a:rPr lang="en-GB" sz="2000" dirty="0"/>
              <a:t>.</a:t>
            </a:r>
            <a:endParaRPr lang="en-IN" sz="2000" dirty="0"/>
          </a:p>
        </p:txBody>
      </p:sp>
      <p:sp>
        <p:nvSpPr>
          <p:cNvPr id="25" name="TextBox 24">
            <a:extLst>
              <a:ext uri="{FF2B5EF4-FFF2-40B4-BE49-F238E27FC236}">
                <a16:creationId xmlns:a16="http://schemas.microsoft.com/office/drawing/2014/main" id="{2B093469-8D19-52EA-00D1-A61CDB8B2525}"/>
              </a:ext>
            </a:extLst>
          </p:cNvPr>
          <p:cNvSpPr txBox="1"/>
          <p:nvPr/>
        </p:nvSpPr>
        <p:spPr>
          <a:xfrm>
            <a:off x="284673" y="3054074"/>
            <a:ext cx="8315874" cy="707886"/>
          </a:xfrm>
          <a:prstGeom prst="rect">
            <a:avLst/>
          </a:prstGeom>
          <a:noFill/>
        </p:spPr>
        <p:txBody>
          <a:bodyPr wrap="square">
            <a:spAutoFit/>
          </a:bodyPr>
          <a:lstStyle/>
          <a:p>
            <a:pPr marL="342900" indent="-342900" algn="l">
              <a:buFont typeface="Wingdings" panose="05000000000000000000" pitchFamily="2" charset="2"/>
              <a:buChar char="§"/>
            </a:pPr>
            <a:r>
              <a:rPr lang="en-GB" sz="2000" b="1" i="0" dirty="0">
                <a:effectLst/>
                <a:latin typeface="Arial" panose="020B0604020202020204" pitchFamily="34" charset="0"/>
                <a:cs typeface="Arial" panose="020B0604020202020204" pitchFamily="34" charset="0"/>
              </a:rPr>
              <a:t>Scope:</a:t>
            </a:r>
            <a:r>
              <a:rPr lang="en-GB" b="0" i="0" dirty="0">
                <a:effectLst/>
                <a:latin typeface="Arial" panose="020B0604020202020204" pitchFamily="34" charset="0"/>
                <a:cs typeface="Arial" panose="020B0604020202020204" pitchFamily="34" charset="0"/>
              </a:rPr>
              <a:t> Affects only that specific element</a:t>
            </a:r>
            <a:r>
              <a:rPr lang="en-GB" b="0" i="0" dirty="0">
                <a:effectLst/>
                <a:latin typeface="fkGroteskNeue"/>
              </a:rPr>
              <a:t>.</a:t>
            </a:r>
          </a:p>
          <a:p>
            <a:pPr marL="342900" indent="-342900" algn="l">
              <a:buFont typeface="Wingdings" panose="05000000000000000000" pitchFamily="2" charset="2"/>
              <a:buChar char="§"/>
            </a:pPr>
            <a:r>
              <a:rPr lang="en-GB" sz="2000" b="1" i="0" dirty="0">
                <a:effectLst/>
                <a:latin typeface="Arial" panose="020B0604020202020204" pitchFamily="34" charset="0"/>
                <a:cs typeface="Arial" panose="020B0604020202020204" pitchFamily="34" charset="0"/>
              </a:rPr>
              <a:t>Example:</a:t>
            </a:r>
            <a:endParaRPr lang="en-GB" sz="2000" b="0" i="0" dirty="0">
              <a:effectLst/>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5C412FC0-5F2A-558D-8DD0-8A2E718AAB3D}"/>
              </a:ext>
            </a:extLst>
          </p:cNvPr>
          <p:cNvSpPr txBox="1"/>
          <p:nvPr/>
        </p:nvSpPr>
        <p:spPr>
          <a:xfrm>
            <a:off x="284674" y="4899644"/>
            <a:ext cx="11119448" cy="1015663"/>
          </a:xfrm>
          <a:prstGeom prst="rect">
            <a:avLst/>
          </a:prstGeom>
          <a:noFill/>
        </p:spPr>
        <p:txBody>
          <a:bodyPr wrap="square">
            <a:spAutoFit/>
          </a:bodyPr>
          <a:lstStyle/>
          <a:p>
            <a:pPr marL="342900" indent="-342900" algn="l">
              <a:buFont typeface="Wingdings" panose="05000000000000000000" pitchFamily="2" charset="2"/>
              <a:buChar char="§"/>
            </a:pPr>
            <a:r>
              <a:rPr lang="en-GB" sz="2000" b="1" i="0" dirty="0">
                <a:effectLst/>
                <a:latin typeface="Arial" panose="020B0604020202020204" pitchFamily="34" charset="0"/>
                <a:cs typeface="Arial" panose="020B0604020202020204" pitchFamily="34" charset="0"/>
              </a:rPr>
              <a:t>Use Case:</a:t>
            </a:r>
            <a:r>
              <a:rPr lang="en-GB" sz="2000" b="0" i="0" dirty="0">
                <a:effectLst/>
                <a:latin typeface="Arial" panose="020B0604020202020204" pitchFamily="34" charset="0"/>
                <a:cs typeface="Arial" panose="020B0604020202020204" pitchFamily="34" charset="0"/>
              </a:rPr>
              <a:t> </a:t>
            </a:r>
            <a:r>
              <a:rPr lang="en-GB" b="0" i="0" dirty="0">
                <a:effectLst/>
                <a:latin typeface="Arial" panose="020B0604020202020204" pitchFamily="34" charset="0"/>
                <a:cs typeface="Arial" panose="020B0604020202020204" pitchFamily="34" charset="0"/>
              </a:rPr>
              <a:t>Quick, one-off changes for a single element.</a:t>
            </a:r>
          </a:p>
          <a:p>
            <a:pPr marL="342900" indent="-342900" algn="l">
              <a:buFont typeface="Wingdings" panose="05000000000000000000" pitchFamily="2" charset="2"/>
              <a:buChar char="§"/>
            </a:pPr>
            <a:r>
              <a:rPr lang="en-GB" sz="2000" b="1" i="0" dirty="0">
                <a:effectLst/>
                <a:latin typeface="Arial" panose="020B0604020202020204" pitchFamily="34" charset="0"/>
                <a:cs typeface="Arial" panose="020B0604020202020204" pitchFamily="34" charset="0"/>
              </a:rPr>
              <a:t>Pros:</a:t>
            </a:r>
            <a:r>
              <a:rPr lang="en-GB" b="0" i="0" dirty="0">
                <a:effectLst/>
                <a:latin typeface="fkGroteskNeue"/>
              </a:rPr>
              <a:t> </a:t>
            </a:r>
            <a:r>
              <a:rPr lang="en-GB" b="0" i="0" dirty="0">
                <a:effectLst/>
                <a:latin typeface="Arial" panose="020B0604020202020204" pitchFamily="34" charset="0"/>
                <a:cs typeface="Arial" panose="020B0604020202020204" pitchFamily="34" charset="0"/>
              </a:rPr>
              <a:t>Highest priority; overrides internal and external CSS.</a:t>
            </a:r>
          </a:p>
          <a:p>
            <a:pPr marL="342900" indent="-342900" algn="l">
              <a:buFont typeface="Wingdings" panose="05000000000000000000" pitchFamily="2" charset="2"/>
              <a:buChar char="§"/>
            </a:pPr>
            <a:r>
              <a:rPr lang="en-GB" sz="2000" b="1" i="0" dirty="0">
                <a:effectLst/>
                <a:latin typeface="Arial" panose="020B0604020202020204" pitchFamily="34" charset="0"/>
                <a:cs typeface="Arial" panose="020B0604020202020204" pitchFamily="34" charset="0"/>
              </a:rPr>
              <a:t>Cons:</a:t>
            </a:r>
            <a:r>
              <a:rPr lang="en-GB" b="0" i="0" dirty="0">
                <a:effectLst/>
                <a:latin typeface="fkGroteskNeue"/>
              </a:rPr>
              <a:t> </a:t>
            </a:r>
            <a:r>
              <a:rPr lang="en-GB" b="0" i="0" dirty="0">
                <a:effectLst/>
                <a:latin typeface="Arial" panose="020B0604020202020204" pitchFamily="34" charset="0"/>
                <a:cs typeface="Arial" panose="020B0604020202020204" pitchFamily="34" charset="0"/>
              </a:rPr>
              <a:t>Not reusable, increases HTML file size, hard to maintain.</a:t>
            </a:r>
          </a:p>
        </p:txBody>
      </p:sp>
    </p:spTree>
    <p:extLst>
      <p:ext uri="{BB962C8B-B14F-4D97-AF65-F5344CB8AC3E}">
        <p14:creationId xmlns:p14="http://schemas.microsoft.com/office/powerpoint/2010/main" val="40711879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4CB4BD-B739-CAE7-3FB7-6D0424437569}"/>
              </a:ext>
            </a:extLst>
          </p:cNvPr>
          <p:cNvSpPr txBox="1"/>
          <p:nvPr/>
        </p:nvSpPr>
        <p:spPr>
          <a:xfrm>
            <a:off x="0" y="276051"/>
            <a:ext cx="12192000" cy="400110"/>
          </a:xfrm>
          <a:prstGeom prst="rect">
            <a:avLst/>
          </a:prstGeom>
          <a:noFill/>
        </p:spPr>
        <p:txBody>
          <a:bodyPr wrap="square" rtlCol="0">
            <a:spAutoFit/>
          </a:bodyPr>
          <a:lstStyle/>
          <a:p>
            <a:pPr marL="342900" indent="-342900">
              <a:buFont typeface="+mj-lt"/>
              <a:buAutoNum type="arabicPeriod" startAt="2"/>
            </a:pPr>
            <a:r>
              <a:rPr lang="en-IN" sz="2000" b="1" i="1" dirty="0">
                <a:effectLst/>
                <a:latin typeface="Arial" panose="020B0604020202020204" pitchFamily="34" charset="0"/>
                <a:cs typeface="Arial" panose="020B0604020202020204" pitchFamily="34" charset="0"/>
              </a:rPr>
              <a:t>Internal CSS</a:t>
            </a:r>
            <a:endParaRPr lang="en-IN" sz="2000" dirty="0"/>
          </a:p>
        </p:txBody>
      </p:sp>
      <p:sp>
        <p:nvSpPr>
          <p:cNvPr id="4" name="TextBox 3">
            <a:extLst>
              <a:ext uri="{FF2B5EF4-FFF2-40B4-BE49-F238E27FC236}">
                <a16:creationId xmlns:a16="http://schemas.microsoft.com/office/drawing/2014/main" id="{3277A07E-CFE3-4D39-4841-03F4A6E9A50C}"/>
              </a:ext>
            </a:extLst>
          </p:cNvPr>
          <p:cNvSpPr txBox="1"/>
          <p:nvPr/>
        </p:nvSpPr>
        <p:spPr>
          <a:xfrm>
            <a:off x="350874" y="804363"/>
            <a:ext cx="12599582" cy="707886"/>
          </a:xfrm>
          <a:prstGeom prst="rect">
            <a:avLst/>
          </a:prstGeom>
          <a:noFill/>
        </p:spPr>
        <p:txBody>
          <a:bodyPr wrap="square">
            <a:spAutoFit/>
          </a:bodyPr>
          <a:lstStyle/>
          <a:p>
            <a:pPr marL="342900" indent="-342900">
              <a:buFont typeface="Wingdings" panose="05000000000000000000" pitchFamily="2" charset="2"/>
              <a:buChar char="§"/>
            </a:pPr>
            <a:r>
              <a:rPr lang="en-GB" sz="2000" b="1" dirty="0">
                <a:latin typeface="Arial" panose="020B0604020202020204" pitchFamily="34" charset="0"/>
                <a:cs typeface="Arial" panose="020B0604020202020204" pitchFamily="34" charset="0"/>
              </a:rPr>
              <a:t>Definition: </a:t>
            </a:r>
            <a:r>
              <a:rPr lang="en-GB" dirty="0">
                <a:latin typeface="Arial" panose="020B0604020202020204" pitchFamily="34" charset="0"/>
                <a:cs typeface="Arial" panose="020B0604020202020204" pitchFamily="34" charset="0"/>
              </a:rPr>
              <a:t>CSS rules are placed within a &lt;style&gt; tag, usually inside the &lt;head&gt; section of an HTML document.</a:t>
            </a:r>
          </a:p>
          <a:p>
            <a:pPr marL="342900" indent="-342900">
              <a:buFont typeface="Wingdings" panose="05000000000000000000" pitchFamily="2" charset="2"/>
              <a:buChar char="§"/>
            </a:pPr>
            <a:r>
              <a:rPr lang="en-GB" sz="2000" b="1" dirty="0">
                <a:latin typeface="Arial" panose="020B0604020202020204" pitchFamily="34" charset="0"/>
                <a:cs typeface="Arial" panose="020B0604020202020204" pitchFamily="34" charset="0"/>
              </a:rPr>
              <a:t>Scope:</a:t>
            </a:r>
            <a:r>
              <a:rPr lang="en-GB" dirty="0"/>
              <a:t> </a:t>
            </a:r>
            <a:r>
              <a:rPr lang="en-GB" dirty="0">
                <a:latin typeface="Arial" panose="020B0604020202020204" pitchFamily="34" charset="0"/>
                <a:cs typeface="Arial" panose="020B0604020202020204" pitchFamily="34" charset="0"/>
              </a:rPr>
              <a:t>Affects all elements on the same HTML page, but only within that page.</a:t>
            </a:r>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DB2870D1-3416-FB01-A9A6-64F307D7A2A0}"/>
              </a:ext>
            </a:extLst>
          </p:cNvPr>
          <p:cNvSpPr txBox="1"/>
          <p:nvPr/>
        </p:nvSpPr>
        <p:spPr>
          <a:xfrm>
            <a:off x="350874" y="1447158"/>
            <a:ext cx="11748977" cy="677108"/>
          </a:xfrm>
          <a:prstGeom prst="rect">
            <a:avLst/>
          </a:prstGeom>
          <a:noFill/>
        </p:spPr>
        <p:txBody>
          <a:bodyPr wrap="square">
            <a:spAutoFit/>
          </a:bodyPr>
          <a:lstStyle/>
          <a:p>
            <a:pPr marL="285750" indent="-285750" algn="l">
              <a:buFont typeface="Wingdings" panose="05000000000000000000" pitchFamily="2" charset="2"/>
              <a:buChar char="§"/>
            </a:pPr>
            <a:r>
              <a:rPr lang="en-GB" sz="2000" b="1" i="0" dirty="0">
                <a:effectLst/>
                <a:latin typeface="Arial" panose="020B0604020202020204" pitchFamily="34" charset="0"/>
                <a:cs typeface="Arial" panose="020B0604020202020204" pitchFamily="34" charset="0"/>
              </a:rPr>
              <a:t>Maintainability</a:t>
            </a:r>
            <a:r>
              <a:rPr lang="en-GB" sz="2000" b="0" i="0" dirty="0">
                <a:effectLst/>
                <a:latin typeface="Arial" panose="020B0604020202020204" pitchFamily="34" charset="0"/>
                <a:cs typeface="Arial" panose="020B0604020202020204" pitchFamily="34" charset="0"/>
              </a:rPr>
              <a:t>: </a:t>
            </a:r>
            <a:r>
              <a:rPr lang="en-GB" b="0" i="0" dirty="0">
                <a:effectLst/>
                <a:latin typeface="Arial" panose="020B0604020202020204" pitchFamily="34" charset="0"/>
                <a:cs typeface="Arial" panose="020B0604020202020204" pitchFamily="34" charset="0"/>
              </a:rPr>
              <a:t>Easier than inline for single pages, but not reusable across multiple pages; can increase file size for large sites.</a:t>
            </a:r>
          </a:p>
        </p:txBody>
      </p:sp>
      <p:sp>
        <p:nvSpPr>
          <p:cNvPr id="7" name="TextBox 6">
            <a:extLst>
              <a:ext uri="{FF2B5EF4-FFF2-40B4-BE49-F238E27FC236}">
                <a16:creationId xmlns:a16="http://schemas.microsoft.com/office/drawing/2014/main" id="{334FF625-B973-CC55-371A-532BD39C02C5}"/>
              </a:ext>
            </a:extLst>
          </p:cNvPr>
          <p:cNvSpPr txBox="1"/>
          <p:nvPr/>
        </p:nvSpPr>
        <p:spPr>
          <a:xfrm>
            <a:off x="350875" y="2032236"/>
            <a:ext cx="11841126" cy="369332"/>
          </a:xfrm>
          <a:prstGeom prst="rect">
            <a:avLst/>
          </a:prstGeom>
          <a:noFill/>
        </p:spPr>
        <p:txBody>
          <a:bodyPr wrap="square">
            <a:spAutoFit/>
          </a:bodyPr>
          <a:lstStyle/>
          <a:p>
            <a:pPr marL="285750" indent="-285750" algn="l">
              <a:buFont typeface="Wingdings" panose="05000000000000000000" pitchFamily="2" charset="2"/>
              <a:buChar char="§"/>
            </a:pPr>
            <a:r>
              <a:rPr lang="en-GB" b="1" i="0" dirty="0">
                <a:effectLst/>
                <a:latin typeface="Arial" panose="020B0604020202020204" pitchFamily="34" charset="0"/>
                <a:cs typeface="Arial" panose="020B0604020202020204" pitchFamily="34" charset="0"/>
              </a:rPr>
              <a:t>Use Case</a:t>
            </a:r>
            <a:r>
              <a:rPr lang="en-GB" b="0" i="0" dirty="0">
                <a:effectLst/>
                <a:latin typeface="Arial" panose="020B0604020202020204" pitchFamily="34" charset="0"/>
                <a:cs typeface="Arial" panose="020B0604020202020204" pitchFamily="34" charset="0"/>
              </a:rPr>
              <a:t>: Suitable for styling a single web page uniquely.</a:t>
            </a:r>
          </a:p>
        </p:txBody>
      </p:sp>
      <p:sp>
        <p:nvSpPr>
          <p:cNvPr id="9" name="TextBox 8">
            <a:extLst>
              <a:ext uri="{FF2B5EF4-FFF2-40B4-BE49-F238E27FC236}">
                <a16:creationId xmlns:a16="http://schemas.microsoft.com/office/drawing/2014/main" id="{EB267082-7E7D-3DE3-7B7C-2BC3B5A28C32}"/>
              </a:ext>
            </a:extLst>
          </p:cNvPr>
          <p:cNvSpPr txBox="1"/>
          <p:nvPr/>
        </p:nvSpPr>
        <p:spPr bwMode="hidden">
          <a:xfrm>
            <a:off x="1207698" y="2690336"/>
            <a:ext cx="9739223" cy="923330"/>
          </a:xfrm>
          <a:prstGeom prst="rect">
            <a:avLst/>
          </a:prstGeom>
          <a:solidFill>
            <a:schemeClr val="bg1"/>
          </a:solidFill>
        </p:spPr>
        <p:txBody>
          <a:bodyPr wrap="square">
            <a:spAutoFit/>
          </a:bodyPr>
          <a:lstStyle/>
          <a:p>
            <a:r>
              <a:rPr lang="en-GB" dirty="0"/>
              <a:t>&lt;head&gt;</a:t>
            </a:r>
          </a:p>
          <a:p>
            <a:r>
              <a:rPr lang="en-GB" dirty="0"/>
              <a:t>  &lt;style&gt;p { </a:t>
            </a:r>
            <a:r>
              <a:rPr lang="en-GB" dirty="0" err="1">
                <a:solidFill>
                  <a:srgbClr val="00B050"/>
                </a:solidFill>
              </a:rPr>
              <a:t>color</a:t>
            </a:r>
            <a:r>
              <a:rPr lang="en-GB" dirty="0"/>
              <a:t>: blue; }&lt;/style&gt;</a:t>
            </a:r>
          </a:p>
          <a:p>
            <a:r>
              <a:rPr lang="en-GB" dirty="0"/>
              <a:t>&lt;/head&gt;</a:t>
            </a:r>
          </a:p>
        </p:txBody>
      </p:sp>
      <p:sp>
        <p:nvSpPr>
          <p:cNvPr id="11" name="TextBox 10">
            <a:extLst>
              <a:ext uri="{FF2B5EF4-FFF2-40B4-BE49-F238E27FC236}">
                <a16:creationId xmlns:a16="http://schemas.microsoft.com/office/drawing/2014/main" id="{0269024E-E430-3FFC-CF72-33CC55B21DB4}"/>
              </a:ext>
            </a:extLst>
          </p:cNvPr>
          <p:cNvSpPr txBox="1"/>
          <p:nvPr/>
        </p:nvSpPr>
        <p:spPr>
          <a:xfrm>
            <a:off x="-1" y="3874056"/>
            <a:ext cx="12191999" cy="400110"/>
          </a:xfrm>
          <a:prstGeom prst="rect">
            <a:avLst/>
          </a:prstGeom>
          <a:noFill/>
        </p:spPr>
        <p:txBody>
          <a:bodyPr wrap="square">
            <a:spAutoFit/>
          </a:bodyPr>
          <a:lstStyle/>
          <a:p>
            <a:pPr marL="342900" indent="-342900">
              <a:buFont typeface="+mj-lt"/>
              <a:buAutoNum type="arabicPeriod" startAt="3"/>
            </a:pPr>
            <a:r>
              <a:rPr lang="en-IN" sz="2000" b="1" i="0" dirty="0">
                <a:effectLst/>
                <a:latin typeface="Arial" panose="020B0604020202020204" pitchFamily="34" charset="0"/>
                <a:cs typeface="Arial" panose="020B0604020202020204" pitchFamily="34" charset="0"/>
              </a:rPr>
              <a:t>External</a:t>
            </a:r>
            <a:r>
              <a:rPr lang="en-IN" b="1" i="0" dirty="0">
                <a:effectLst/>
                <a:latin typeface="Arial" panose="020B0604020202020204" pitchFamily="34" charset="0"/>
                <a:cs typeface="Arial" panose="020B0604020202020204" pitchFamily="34" charset="0"/>
              </a:rPr>
              <a:t> CSS</a:t>
            </a:r>
            <a:r>
              <a:rPr lang="en-IN" b="0" i="0" dirty="0">
                <a:effectLst/>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837098CA-057F-F55B-588C-8163C9F02B47}"/>
              </a:ext>
            </a:extLst>
          </p:cNvPr>
          <p:cNvSpPr txBox="1"/>
          <p:nvPr/>
        </p:nvSpPr>
        <p:spPr>
          <a:xfrm>
            <a:off x="350874" y="4669756"/>
            <a:ext cx="11748977" cy="984885"/>
          </a:xfrm>
          <a:prstGeom prst="rect">
            <a:avLst/>
          </a:prstGeom>
          <a:noFill/>
        </p:spPr>
        <p:txBody>
          <a:bodyPr wrap="square">
            <a:spAutoFit/>
          </a:bodyPr>
          <a:lstStyle/>
          <a:p>
            <a:pPr marL="285750" indent="-285750">
              <a:buFont typeface="Wingdings" panose="05000000000000000000" pitchFamily="2" charset="2"/>
              <a:buChar char="§"/>
            </a:pPr>
            <a:r>
              <a:rPr lang="en-GB" sz="2000" b="1" dirty="0">
                <a:latin typeface="Arial" panose="020B0604020202020204" pitchFamily="34" charset="0"/>
                <a:cs typeface="Arial" panose="020B0604020202020204" pitchFamily="34" charset="0"/>
              </a:rPr>
              <a:t>Definition:</a:t>
            </a:r>
            <a:r>
              <a:rPr lang="en-GB" dirty="0"/>
              <a:t> </a:t>
            </a:r>
            <a:r>
              <a:rPr lang="en-GB" dirty="0">
                <a:latin typeface="Arial" panose="020B0604020202020204" pitchFamily="34" charset="0"/>
                <a:cs typeface="Arial" panose="020B0604020202020204" pitchFamily="34" charset="0"/>
              </a:rPr>
              <a:t>CSS rules are written in a separate .</a:t>
            </a:r>
            <a:r>
              <a:rPr lang="en-GB" dirty="0" err="1">
                <a:latin typeface="Arial" panose="020B0604020202020204" pitchFamily="34" charset="0"/>
                <a:cs typeface="Arial" panose="020B0604020202020204" pitchFamily="34" charset="0"/>
              </a:rPr>
              <a:t>css</a:t>
            </a:r>
            <a:r>
              <a:rPr lang="en-GB" dirty="0">
                <a:latin typeface="Arial" panose="020B0604020202020204" pitchFamily="34" charset="0"/>
                <a:cs typeface="Arial" panose="020B0604020202020204" pitchFamily="34" charset="0"/>
              </a:rPr>
              <a:t> file, which is linked to one or more HTML documents using the &lt;link&gt; tag.</a:t>
            </a:r>
            <a:endParaRPr lang="en-GB" dirty="0"/>
          </a:p>
          <a:p>
            <a:pPr marL="285750" indent="-285750">
              <a:buFont typeface="Wingdings" panose="05000000000000000000" pitchFamily="2" charset="2"/>
              <a:buChar char="§"/>
            </a:pPr>
            <a:r>
              <a:rPr lang="en-GB" sz="2000" b="1" dirty="0">
                <a:latin typeface="Arial" panose="020B0604020202020204" pitchFamily="34" charset="0"/>
                <a:cs typeface="Arial" panose="020B0604020202020204" pitchFamily="34" charset="0"/>
              </a:rPr>
              <a:t>Scope:</a:t>
            </a:r>
            <a:r>
              <a:rPr lang="en-GB" dirty="0">
                <a:latin typeface="Arial" panose="020B0604020202020204" pitchFamily="34" charset="0"/>
                <a:cs typeface="Arial" panose="020B0604020202020204" pitchFamily="34" charset="0"/>
              </a:rPr>
              <a:t> Can style multiple HTML documents, offering global and consistent styling across a website.</a:t>
            </a:r>
          </a:p>
        </p:txBody>
      </p:sp>
      <p:sp>
        <p:nvSpPr>
          <p:cNvPr id="15" name="TextBox 14">
            <a:extLst>
              <a:ext uri="{FF2B5EF4-FFF2-40B4-BE49-F238E27FC236}">
                <a16:creationId xmlns:a16="http://schemas.microsoft.com/office/drawing/2014/main" id="{D862D014-31D2-EDF2-3A64-C8A074F9E003}"/>
              </a:ext>
            </a:extLst>
          </p:cNvPr>
          <p:cNvSpPr txBox="1"/>
          <p:nvPr/>
        </p:nvSpPr>
        <p:spPr>
          <a:xfrm>
            <a:off x="350874" y="5602623"/>
            <a:ext cx="11607578" cy="400110"/>
          </a:xfrm>
          <a:prstGeom prst="rect">
            <a:avLst/>
          </a:prstGeom>
          <a:noFill/>
        </p:spPr>
        <p:txBody>
          <a:bodyPr wrap="square">
            <a:spAutoFit/>
          </a:bodyPr>
          <a:lstStyle/>
          <a:p>
            <a:pPr marL="285750" indent="-285750">
              <a:buFont typeface="Wingdings" panose="05000000000000000000" pitchFamily="2" charset="2"/>
              <a:buChar char="§"/>
            </a:pPr>
            <a:r>
              <a:rPr lang="en-GB" sz="2000" dirty="0">
                <a:latin typeface="Arial" panose="020B0604020202020204" pitchFamily="34" charset="0"/>
                <a:cs typeface="Arial" panose="020B0604020202020204" pitchFamily="34" charset="0"/>
              </a:rPr>
              <a:t>Use Case: </a:t>
            </a:r>
            <a:r>
              <a:rPr lang="en-GB" dirty="0">
                <a:latin typeface="Arial" panose="020B0604020202020204" pitchFamily="34" charset="0"/>
                <a:cs typeface="Arial" panose="020B0604020202020204" pitchFamily="34" charset="0"/>
              </a:rPr>
              <a:t>Ideal for large or multi-page websites—recommended standard practice.</a:t>
            </a:r>
            <a:endParaRPr lang="en-IN"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B34B119-6D77-6950-A79F-FE8354295D25}"/>
              </a:ext>
            </a:extLst>
          </p:cNvPr>
          <p:cNvSpPr txBox="1"/>
          <p:nvPr/>
        </p:nvSpPr>
        <p:spPr>
          <a:xfrm>
            <a:off x="350874" y="5998511"/>
            <a:ext cx="11841126" cy="646331"/>
          </a:xfrm>
          <a:prstGeom prst="rect">
            <a:avLst/>
          </a:prstGeom>
          <a:noFill/>
        </p:spPr>
        <p:txBody>
          <a:bodyPr wrap="square">
            <a:spAutoFit/>
          </a:bodyPr>
          <a:lstStyle/>
          <a:p>
            <a:pPr marL="285750" indent="-285750">
              <a:buFont typeface="Wingdings" panose="05000000000000000000" pitchFamily="2" charset="2"/>
              <a:buChar char="§"/>
            </a:pPr>
            <a:r>
              <a:rPr lang="en-GB" dirty="0"/>
              <a:t>Maintainability: Easiest to maintain and update; styles are centralized in one file. Promotes reusability and separation of content and presentation.</a:t>
            </a:r>
            <a:endParaRPr lang="en-IN" dirty="0"/>
          </a:p>
        </p:txBody>
      </p:sp>
    </p:spTree>
    <p:extLst>
      <p:ext uri="{BB962C8B-B14F-4D97-AF65-F5344CB8AC3E}">
        <p14:creationId xmlns:p14="http://schemas.microsoft.com/office/powerpoint/2010/main" val="2652121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B2DF92-8355-8740-BADD-E4AA46454CAA}"/>
              </a:ext>
            </a:extLst>
          </p:cNvPr>
          <p:cNvSpPr txBox="1"/>
          <p:nvPr/>
        </p:nvSpPr>
        <p:spPr>
          <a:xfrm>
            <a:off x="719847" y="253306"/>
            <a:ext cx="10690698" cy="923330"/>
          </a:xfrm>
          <a:prstGeom prst="rect">
            <a:avLst/>
          </a:prstGeom>
          <a:solidFill>
            <a:schemeClr val="bg1"/>
          </a:solidFill>
        </p:spPr>
        <p:txBody>
          <a:bodyPr wrap="square">
            <a:spAutoFit/>
          </a:bodyPr>
          <a:lstStyle/>
          <a:p>
            <a:r>
              <a:rPr lang="en-GB" dirty="0"/>
              <a:t>&lt;head&gt;</a:t>
            </a:r>
          </a:p>
          <a:p>
            <a:r>
              <a:rPr lang="en-GB" dirty="0"/>
              <a:t>  &lt;link </a:t>
            </a:r>
            <a:r>
              <a:rPr lang="en-GB" dirty="0" err="1">
                <a:solidFill>
                  <a:srgbClr val="FF0000"/>
                </a:solidFill>
              </a:rPr>
              <a:t>rel</a:t>
            </a:r>
            <a:r>
              <a:rPr lang="en-GB" dirty="0"/>
              <a:t>=</a:t>
            </a:r>
            <a:r>
              <a:rPr lang="en-GB" dirty="0">
                <a:solidFill>
                  <a:srgbClr val="00B050"/>
                </a:solidFill>
              </a:rPr>
              <a:t>"stylesheet" </a:t>
            </a:r>
            <a:r>
              <a:rPr lang="en-GB" dirty="0" err="1">
                <a:solidFill>
                  <a:srgbClr val="FF0000"/>
                </a:solidFill>
              </a:rPr>
              <a:t>href</a:t>
            </a:r>
            <a:r>
              <a:rPr lang="en-GB" dirty="0"/>
              <a:t>=</a:t>
            </a:r>
            <a:r>
              <a:rPr lang="en-GB" dirty="0">
                <a:solidFill>
                  <a:srgbClr val="00B050"/>
                </a:solidFill>
              </a:rPr>
              <a:t>"styles.css“</a:t>
            </a:r>
            <a:r>
              <a:rPr lang="en-GB" dirty="0"/>
              <a:t>&gt;</a:t>
            </a:r>
          </a:p>
          <a:p>
            <a:r>
              <a:rPr lang="en-GB" dirty="0"/>
              <a:t>&lt;/head&gt;</a:t>
            </a:r>
          </a:p>
        </p:txBody>
      </p:sp>
      <p:graphicFrame>
        <p:nvGraphicFramePr>
          <p:cNvPr id="4" name="Table 3">
            <a:extLst>
              <a:ext uri="{FF2B5EF4-FFF2-40B4-BE49-F238E27FC236}">
                <a16:creationId xmlns:a16="http://schemas.microsoft.com/office/drawing/2014/main" id="{1F9A1B34-3A70-8E50-63DD-19AEF0D003A1}"/>
              </a:ext>
            </a:extLst>
          </p:cNvPr>
          <p:cNvGraphicFramePr>
            <a:graphicFrameLocks noGrp="1"/>
          </p:cNvGraphicFramePr>
          <p:nvPr>
            <p:extLst>
              <p:ext uri="{D42A27DB-BD31-4B8C-83A1-F6EECF244321}">
                <p14:modId xmlns:p14="http://schemas.microsoft.com/office/powerpoint/2010/main" val="2591355277"/>
              </p:ext>
            </p:extLst>
          </p:nvPr>
        </p:nvGraphicFramePr>
        <p:xfrm>
          <a:off x="1049507" y="1838347"/>
          <a:ext cx="10137304" cy="4619856"/>
        </p:xfrm>
        <a:graphic>
          <a:graphicData uri="http://schemas.openxmlformats.org/drawingml/2006/table">
            <a:tbl>
              <a:tblPr firstRow="1" bandRow="1">
                <a:tableStyleId>{073A0DAA-6AF3-43AB-8588-CEC1D06C72B9}</a:tableStyleId>
              </a:tblPr>
              <a:tblGrid>
                <a:gridCol w="2534326">
                  <a:extLst>
                    <a:ext uri="{9D8B030D-6E8A-4147-A177-3AD203B41FA5}">
                      <a16:colId xmlns:a16="http://schemas.microsoft.com/office/drawing/2014/main" val="1704831313"/>
                    </a:ext>
                  </a:extLst>
                </a:gridCol>
                <a:gridCol w="2534326">
                  <a:extLst>
                    <a:ext uri="{9D8B030D-6E8A-4147-A177-3AD203B41FA5}">
                      <a16:colId xmlns:a16="http://schemas.microsoft.com/office/drawing/2014/main" val="197390428"/>
                    </a:ext>
                  </a:extLst>
                </a:gridCol>
                <a:gridCol w="2534326">
                  <a:extLst>
                    <a:ext uri="{9D8B030D-6E8A-4147-A177-3AD203B41FA5}">
                      <a16:colId xmlns:a16="http://schemas.microsoft.com/office/drawing/2014/main" val="3871511110"/>
                    </a:ext>
                  </a:extLst>
                </a:gridCol>
                <a:gridCol w="2534326">
                  <a:extLst>
                    <a:ext uri="{9D8B030D-6E8A-4147-A177-3AD203B41FA5}">
                      <a16:colId xmlns:a16="http://schemas.microsoft.com/office/drawing/2014/main" val="1219202917"/>
                    </a:ext>
                  </a:extLst>
                </a:gridCol>
              </a:tblGrid>
              <a:tr h="572568">
                <a:tc>
                  <a:txBody>
                    <a:bodyPr/>
                    <a:lstStyle/>
                    <a:p>
                      <a:r>
                        <a:rPr lang="en-IN" sz="1800" b="1" i="0" kern="1200" dirty="0">
                          <a:solidFill>
                            <a:schemeClr val="lt1"/>
                          </a:solidFill>
                          <a:effectLst/>
                          <a:latin typeface="+mn-lt"/>
                          <a:ea typeface="+mn-ea"/>
                          <a:cs typeface="+mn-cs"/>
                        </a:rPr>
                        <a:t>Feature</a:t>
                      </a:r>
                      <a:endParaRPr lang="en-IN" b="1" dirty="0"/>
                    </a:p>
                  </a:txBody>
                  <a:tcPr/>
                </a:tc>
                <a:tc>
                  <a:txBody>
                    <a:bodyPr/>
                    <a:lstStyle/>
                    <a:p>
                      <a:r>
                        <a:rPr lang="en-IN" sz="1800" b="1" i="0" kern="1200" dirty="0">
                          <a:solidFill>
                            <a:schemeClr val="lt1"/>
                          </a:solidFill>
                          <a:effectLst/>
                          <a:latin typeface="+mn-lt"/>
                          <a:ea typeface="+mn-ea"/>
                          <a:cs typeface="+mn-cs"/>
                        </a:rPr>
                        <a:t>Inline</a:t>
                      </a:r>
                      <a:r>
                        <a:rPr lang="en-IN" sz="1800" b="0" i="0" kern="1200" dirty="0">
                          <a:solidFill>
                            <a:schemeClr val="lt1"/>
                          </a:solidFill>
                          <a:effectLst/>
                          <a:latin typeface="+mn-lt"/>
                          <a:ea typeface="+mn-ea"/>
                          <a:cs typeface="+mn-cs"/>
                        </a:rPr>
                        <a:t> </a:t>
                      </a:r>
                      <a:r>
                        <a:rPr lang="en-IN" sz="1800" b="1" i="0" kern="1200" dirty="0">
                          <a:solidFill>
                            <a:schemeClr val="lt1"/>
                          </a:solidFill>
                          <a:effectLst/>
                          <a:latin typeface="+mn-lt"/>
                          <a:ea typeface="+mn-ea"/>
                          <a:cs typeface="+mn-cs"/>
                        </a:rPr>
                        <a:t>CSS</a:t>
                      </a:r>
                      <a:endParaRPr lang="en-IN" b="1" dirty="0"/>
                    </a:p>
                  </a:txBody>
                  <a:tcPr/>
                </a:tc>
                <a:tc>
                  <a:txBody>
                    <a:bodyPr/>
                    <a:lstStyle/>
                    <a:p>
                      <a:r>
                        <a:rPr lang="en-IN" sz="1800" b="1" i="0" kern="1200" dirty="0">
                          <a:solidFill>
                            <a:schemeClr val="lt1"/>
                          </a:solidFill>
                          <a:effectLst/>
                          <a:latin typeface="+mn-lt"/>
                          <a:ea typeface="+mn-ea"/>
                          <a:cs typeface="+mn-cs"/>
                        </a:rPr>
                        <a:t>Internal</a:t>
                      </a:r>
                      <a:r>
                        <a:rPr lang="en-IN" sz="1800" b="0" i="0" kern="1200" dirty="0">
                          <a:solidFill>
                            <a:schemeClr val="lt1"/>
                          </a:solidFill>
                          <a:effectLst/>
                          <a:latin typeface="+mn-lt"/>
                          <a:ea typeface="+mn-ea"/>
                          <a:cs typeface="+mn-cs"/>
                        </a:rPr>
                        <a:t> </a:t>
                      </a:r>
                      <a:r>
                        <a:rPr lang="en-IN" sz="1800" b="1" i="0" kern="1200" dirty="0">
                          <a:solidFill>
                            <a:schemeClr val="lt1"/>
                          </a:solidFill>
                          <a:effectLst/>
                          <a:latin typeface="+mn-lt"/>
                          <a:ea typeface="+mn-ea"/>
                          <a:cs typeface="+mn-cs"/>
                        </a:rPr>
                        <a:t>CSS</a:t>
                      </a:r>
                      <a:endParaRPr lang="en-IN" b="1" dirty="0"/>
                    </a:p>
                  </a:txBody>
                  <a:tcPr/>
                </a:tc>
                <a:tc>
                  <a:txBody>
                    <a:bodyPr/>
                    <a:lstStyle/>
                    <a:p>
                      <a:r>
                        <a:rPr lang="en-IN" sz="1800" b="1" i="0" kern="1200" dirty="0">
                          <a:solidFill>
                            <a:schemeClr val="lt1"/>
                          </a:solidFill>
                          <a:effectLst/>
                          <a:latin typeface="+mn-lt"/>
                          <a:ea typeface="+mn-ea"/>
                          <a:cs typeface="+mn-cs"/>
                        </a:rPr>
                        <a:t>External</a:t>
                      </a:r>
                      <a:r>
                        <a:rPr lang="en-IN" sz="1800" b="0" i="0" kern="1200" dirty="0">
                          <a:solidFill>
                            <a:schemeClr val="lt1"/>
                          </a:solidFill>
                          <a:effectLst/>
                          <a:latin typeface="+mn-lt"/>
                          <a:ea typeface="+mn-ea"/>
                          <a:cs typeface="+mn-cs"/>
                        </a:rPr>
                        <a:t> </a:t>
                      </a:r>
                      <a:r>
                        <a:rPr lang="en-IN" sz="1800" b="1" i="0" kern="1200" dirty="0">
                          <a:solidFill>
                            <a:schemeClr val="lt1"/>
                          </a:solidFill>
                          <a:effectLst/>
                          <a:latin typeface="+mn-lt"/>
                          <a:ea typeface="+mn-ea"/>
                          <a:cs typeface="+mn-cs"/>
                        </a:rPr>
                        <a:t>CSS</a:t>
                      </a:r>
                      <a:endParaRPr lang="en-IN" b="1" dirty="0"/>
                    </a:p>
                  </a:txBody>
                  <a:tcPr/>
                </a:tc>
                <a:extLst>
                  <a:ext uri="{0D108BD9-81ED-4DB2-BD59-A6C34878D82A}">
                    <a16:rowId xmlns:a16="http://schemas.microsoft.com/office/drawing/2014/main" val="1485922373"/>
                  </a:ext>
                </a:extLst>
              </a:tr>
              <a:tr h="572568">
                <a:tc>
                  <a:txBody>
                    <a:bodyPr/>
                    <a:lstStyle/>
                    <a:p>
                      <a:r>
                        <a:rPr lang="en-IN" sz="1800" b="0" i="0" kern="1200" dirty="0">
                          <a:solidFill>
                            <a:schemeClr val="dk1"/>
                          </a:solidFill>
                          <a:effectLst/>
                          <a:latin typeface="+mn-lt"/>
                          <a:ea typeface="+mn-ea"/>
                          <a:cs typeface="+mn-cs"/>
                        </a:rPr>
                        <a:t>Placement</a:t>
                      </a:r>
                      <a:endParaRPr lang="en-IN" sz="1800" dirty="0"/>
                    </a:p>
                  </a:txBody>
                  <a:tcPr/>
                </a:tc>
                <a:tc>
                  <a:txBody>
                    <a:bodyPr/>
                    <a:lstStyle/>
                    <a:p>
                      <a:r>
                        <a:rPr lang="en-IN" sz="1800" dirty="0"/>
                        <a:t>style</a:t>
                      </a:r>
                      <a:r>
                        <a:rPr lang="en-IN" sz="1800" b="0" i="0" kern="1200" dirty="0">
                          <a:solidFill>
                            <a:schemeClr val="dk1"/>
                          </a:solidFill>
                          <a:effectLst/>
                          <a:latin typeface="+mn-lt"/>
                          <a:ea typeface="+mn-ea"/>
                          <a:cs typeface="+mn-cs"/>
                        </a:rPr>
                        <a:t> attribute on HTML element</a:t>
                      </a:r>
                      <a:endParaRPr lang="en-IN" sz="1800" dirty="0"/>
                    </a:p>
                  </a:txBody>
                  <a:tcPr/>
                </a:tc>
                <a:tc>
                  <a:txBody>
                    <a:bodyPr/>
                    <a:lstStyle/>
                    <a:p>
                      <a:r>
                        <a:rPr lang="en-IN" sz="1800" dirty="0"/>
                        <a:t>&lt;style&gt;</a:t>
                      </a:r>
                      <a:r>
                        <a:rPr lang="en-IN" sz="1800" b="0" i="0" kern="1200" dirty="0">
                          <a:solidFill>
                            <a:schemeClr val="dk1"/>
                          </a:solidFill>
                          <a:effectLst/>
                          <a:latin typeface="+mn-lt"/>
                          <a:ea typeface="+mn-ea"/>
                          <a:cs typeface="+mn-cs"/>
                        </a:rPr>
                        <a:t> tag in </a:t>
                      </a:r>
                      <a:r>
                        <a:rPr lang="en-IN" sz="1800" dirty="0"/>
                        <a:t>&lt;head&gt;</a:t>
                      </a:r>
                    </a:p>
                  </a:txBody>
                  <a:tcPr/>
                </a:tc>
                <a:tc>
                  <a:txBody>
                    <a:bodyPr/>
                    <a:lstStyle/>
                    <a:p>
                      <a:r>
                        <a:rPr lang="en-IN" sz="1800" b="0" i="0" kern="1200" dirty="0">
                          <a:solidFill>
                            <a:schemeClr val="dk1"/>
                          </a:solidFill>
                          <a:effectLst/>
                          <a:latin typeface="+mn-lt"/>
                          <a:ea typeface="+mn-ea"/>
                          <a:cs typeface="+mn-cs"/>
                        </a:rPr>
                        <a:t>Separate </a:t>
                      </a:r>
                      <a:r>
                        <a:rPr lang="en-IN" sz="1800" dirty="0"/>
                        <a:t>.</a:t>
                      </a:r>
                      <a:r>
                        <a:rPr lang="en-IN" sz="1800" dirty="0" err="1"/>
                        <a:t>css</a:t>
                      </a:r>
                      <a:r>
                        <a:rPr lang="en-IN" sz="1800" b="0" i="0" kern="1200" dirty="0">
                          <a:solidFill>
                            <a:schemeClr val="dk1"/>
                          </a:solidFill>
                          <a:effectLst/>
                          <a:latin typeface="+mn-lt"/>
                          <a:ea typeface="+mn-ea"/>
                          <a:cs typeface="+mn-cs"/>
                        </a:rPr>
                        <a:t> file, linked via </a:t>
                      </a:r>
                      <a:r>
                        <a:rPr lang="en-IN" sz="1800" dirty="0"/>
                        <a:t>&lt;link&gt;</a:t>
                      </a:r>
                    </a:p>
                  </a:txBody>
                  <a:tcPr/>
                </a:tc>
                <a:extLst>
                  <a:ext uri="{0D108BD9-81ED-4DB2-BD59-A6C34878D82A}">
                    <a16:rowId xmlns:a16="http://schemas.microsoft.com/office/drawing/2014/main" val="26720820"/>
                  </a:ext>
                </a:extLst>
              </a:tr>
              <a:tr h="572568">
                <a:tc>
                  <a:txBody>
                    <a:bodyPr/>
                    <a:lstStyle/>
                    <a:p>
                      <a:r>
                        <a:rPr lang="en-IN" sz="1800" b="0" i="0" kern="1200" dirty="0">
                          <a:solidFill>
                            <a:schemeClr val="dk1"/>
                          </a:solidFill>
                          <a:effectLst/>
                          <a:latin typeface="+mn-lt"/>
                          <a:ea typeface="+mn-ea"/>
                          <a:cs typeface="+mn-cs"/>
                        </a:rPr>
                        <a:t>Scope</a:t>
                      </a:r>
                      <a:endParaRPr lang="en-IN" sz="1800" dirty="0"/>
                    </a:p>
                  </a:txBody>
                  <a:tcPr/>
                </a:tc>
                <a:tc>
                  <a:txBody>
                    <a:bodyPr/>
                    <a:lstStyle/>
                    <a:p>
                      <a:r>
                        <a:rPr lang="en-IN" sz="1800" b="0" i="0" kern="1200" dirty="0">
                          <a:solidFill>
                            <a:schemeClr val="dk1"/>
                          </a:solidFill>
                          <a:effectLst/>
                          <a:latin typeface="+mn-lt"/>
                          <a:ea typeface="+mn-ea"/>
                          <a:cs typeface="+mn-cs"/>
                        </a:rPr>
                        <a:t>One element only</a:t>
                      </a:r>
                      <a:endParaRPr lang="en-IN" sz="1800" dirty="0"/>
                    </a:p>
                  </a:txBody>
                  <a:tcPr/>
                </a:tc>
                <a:tc>
                  <a:txBody>
                    <a:bodyPr/>
                    <a:lstStyle/>
                    <a:p>
                      <a:r>
                        <a:rPr lang="en-IN" sz="1800" b="0" i="0" kern="1200" dirty="0">
                          <a:solidFill>
                            <a:schemeClr val="dk1"/>
                          </a:solidFill>
                          <a:effectLst/>
                          <a:latin typeface="+mn-lt"/>
                          <a:ea typeface="+mn-ea"/>
                          <a:cs typeface="+mn-cs"/>
                        </a:rPr>
                        <a:t>One HTML page</a:t>
                      </a:r>
                      <a:endParaRPr lang="en-IN" sz="1800" dirty="0"/>
                    </a:p>
                  </a:txBody>
                  <a:tcPr/>
                </a:tc>
                <a:tc>
                  <a:txBody>
                    <a:bodyPr/>
                    <a:lstStyle/>
                    <a:p>
                      <a:r>
                        <a:rPr lang="en-IN" sz="1800" b="0" i="0" kern="1200" dirty="0">
                          <a:solidFill>
                            <a:schemeClr val="dk1"/>
                          </a:solidFill>
                          <a:effectLst/>
                          <a:latin typeface="+mn-lt"/>
                          <a:ea typeface="+mn-ea"/>
                          <a:cs typeface="+mn-cs"/>
                        </a:rPr>
                        <a:t>Multiple pages/entire website</a:t>
                      </a:r>
                      <a:endParaRPr lang="en-IN" sz="1800" dirty="0"/>
                    </a:p>
                  </a:txBody>
                  <a:tcPr/>
                </a:tc>
                <a:extLst>
                  <a:ext uri="{0D108BD9-81ED-4DB2-BD59-A6C34878D82A}">
                    <a16:rowId xmlns:a16="http://schemas.microsoft.com/office/drawing/2014/main" val="3378002716"/>
                  </a:ext>
                </a:extLst>
              </a:tr>
              <a:tr h="572568">
                <a:tc>
                  <a:txBody>
                    <a:bodyPr/>
                    <a:lstStyle/>
                    <a:p>
                      <a:r>
                        <a:rPr lang="en-IN" sz="1800" b="0" i="0" kern="1200" dirty="0">
                          <a:solidFill>
                            <a:schemeClr val="dk1"/>
                          </a:solidFill>
                          <a:effectLst/>
                          <a:latin typeface="+mn-lt"/>
                          <a:ea typeface="+mn-ea"/>
                          <a:cs typeface="+mn-cs"/>
                        </a:rPr>
                        <a:t>Reusability</a:t>
                      </a:r>
                      <a:endParaRPr lang="en-IN" sz="1800" dirty="0"/>
                    </a:p>
                  </a:txBody>
                  <a:tcPr/>
                </a:tc>
                <a:tc>
                  <a:txBody>
                    <a:bodyPr/>
                    <a:lstStyle/>
                    <a:p>
                      <a:r>
                        <a:rPr lang="en-IN" sz="1800" b="0" i="0" kern="1200" dirty="0">
                          <a:solidFill>
                            <a:schemeClr val="dk1"/>
                          </a:solidFill>
                          <a:effectLst/>
                          <a:latin typeface="+mn-lt"/>
                          <a:ea typeface="+mn-ea"/>
                          <a:cs typeface="+mn-cs"/>
                        </a:rPr>
                        <a:t>Not reusable</a:t>
                      </a:r>
                      <a:endParaRPr lang="en-IN" sz="1800" dirty="0"/>
                    </a:p>
                  </a:txBody>
                  <a:tcPr/>
                </a:tc>
                <a:tc>
                  <a:txBody>
                    <a:bodyPr/>
                    <a:lstStyle/>
                    <a:p>
                      <a:r>
                        <a:rPr lang="en-IN" sz="1800" b="0" i="0" kern="1200" dirty="0">
                          <a:solidFill>
                            <a:schemeClr val="dk1"/>
                          </a:solidFill>
                          <a:effectLst/>
                          <a:latin typeface="+mn-lt"/>
                          <a:ea typeface="+mn-ea"/>
                          <a:cs typeface="+mn-cs"/>
                        </a:rPr>
                        <a:t>Reusable within same page</a:t>
                      </a:r>
                      <a:endParaRPr lang="en-IN" sz="1800" dirty="0"/>
                    </a:p>
                  </a:txBody>
                  <a:tcPr/>
                </a:tc>
                <a:tc>
                  <a:txBody>
                    <a:bodyPr/>
                    <a:lstStyle/>
                    <a:p>
                      <a:r>
                        <a:rPr lang="en-IN" sz="1800" b="0" i="0" kern="1200" dirty="0">
                          <a:solidFill>
                            <a:schemeClr val="dk1"/>
                          </a:solidFill>
                          <a:effectLst/>
                          <a:latin typeface="+mn-lt"/>
                          <a:ea typeface="+mn-ea"/>
                          <a:cs typeface="+mn-cs"/>
                        </a:rPr>
                        <a:t>Highly reusable across site</a:t>
                      </a:r>
                      <a:endParaRPr lang="en-IN" sz="1800" dirty="0"/>
                    </a:p>
                  </a:txBody>
                  <a:tcPr/>
                </a:tc>
                <a:extLst>
                  <a:ext uri="{0D108BD9-81ED-4DB2-BD59-A6C34878D82A}">
                    <a16:rowId xmlns:a16="http://schemas.microsoft.com/office/drawing/2014/main" val="645012551"/>
                  </a:ext>
                </a:extLst>
              </a:tr>
              <a:tr h="572568">
                <a:tc>
                  <a:txBody>
                    <a:bodyPr/>
                    <a:lstStyle/>
                    <a:p>
                      <a:r>
                        <a:rPr lang="en-IN" sz="1800" b="0" i="0" kern="1200" dirty="0">
                          <a:solidFill>
                            <a:schemeClr val="dk1"/>
                          </a:solidFill>
                          <a:effectLst/>
                          <a:latin typeface="+mn-lt"/>
                          <a:ea typeface="+mn-ea"/>
                          <a:cs typeface="+mn-cs"/>
                        </a:rPr>
                        <a:t>Maintainability</a:t>
                      </a:r>
                      <a:endParaRPr lang="en-IN" sz="1800" dirty="0"/>
                    </a:p>
                  </a:txBody>
                  <a:tcPr/>
                </a:tc>
                <a:tc>
                  <a:txBody>
                    <a:bodyPr/>
                    <a:lstStyle/>
                    <a:p>
                      <a:r>
                        <a:rPr lang="en-IN" sz="1800" b="0" i="0" kern="1200" dirty="0">
                          <a:solidFill>
                            <a:schemeClr val="dk1"/>
                          </a:solidFill>
                          <a:effectLst/>
                          <a:latin typeface="+mn-lt"/>
                          <a:ea typeface="+mn-ea"/>
                          <a:cs typeface="+mn-cs"/>
                        </a:rPr>
                        <a:t>Low (hard to update)</a:t>
                      </a:r>
                      <a:endParaRPr lang="en-IN" sz="1800" dirty="0"/>
                    </a:p>
                  </a:txBody>
                  <a:tcPr/>
                </a:tc>
                <a:tc>
                  <a:txBody>
                    <a:bodyPr/>
                    <a:lstStyle/>
                    <a:p>
                      <a:r>
                        <a:rPr lang="en-GB" sz="1800" b="0" i="0" kern="1200" dirty="0">
                          <a:solidFill>
                            <a:schemeClr val="dk1"/>
                          </a:solidFill>
                          <a:effectLst/>
                          <a:latin typeface="+mn-lt"/>
                          <a:ea typeface="+mn-ea"/>
                          <a:cs typeface="+mn-cs"/>
                        </a:rPr>
                        <a:t>Medium (single page, easier than inline)</a:t>
                      </a:r>
                      <a:endParaRPr lang="en-IN" sz="1800" dirty="0"/>
                    </a:p>
                  </a:txBody>
                  <a:tcPr/>
                </a:tc>
                <a:tc>
                  <a:txBody>
                    <a:bodyPr/>
                    <a:lstStyle/>
                    <a:p>
                      <a:r>
                        <a:rPr lang="en-IN" sz="1800" b="0" i="0" kern="1200" dirty="0">
                          <a:solidFill>
                            <a:schemeClr val="dk1"/>
                          </a:solidFill>
                          <a:effectLst/>
                          <a:latin typeface="+mn-lt"/>
                          <a:ea typeface="+mn-ea"/>
                          <a:cs typeface="+mn-cs"/>
                        </a:rPr>
                        <a:t>High (centralized, easy updates)</a:t>
                      </a:r>
                      <a:endParaRPr lang="en-IN" sz="1800" dirty="0"/>
                    </a:p>
                  </a:txBody>
                  <a:tcPr/>
                </a:tc>
                <a:extLst>
                  <a:ext uri="{0D108BD9-81ED-4DB2-BD59-A6C34878D82A}">
                    <a16:rowId xmlns:a16="http://schemas.microsoft.com/office/drawing/2014/main" val="936408875"/>
                  </a:ext>
                </a:extLst>
              </a:tr>
              <a:tr h="572568">
                <a:tc>
                  <a:txBody>
                    <a:bodyPr/>
                    <a:lstStyle/>
                    <a:p>
                      <a:r>
                        <a:rPr lang="en-IN" sz="1800" b="0" i="0" kern="1200" dirty="0">
                          <a:solidFill>
                            <a:schemeClr val="dk1"/>
                          </a:solidFill>
                          <a:effectLst/>
                          <a:latin typeface="+mn-lt"/>
                          <a:ea typeface="+mn-ea"/>
                          <a:cs typeface="+mn-cs"/>
                        </a:rPr>
                        <a:t>Priority</a:t>
                      </a:r>
                      <a:endParaRPr lang="en-IN" sz="1800" dirty="0"/>
                    </a:p>
                  </a:txBody>
                  <a:tcPr/>
                </a:tc>
                <a:tc>
                  <a:txBody>
                    <a:bodyPr/>
                    <a:lstStyle/>
                    <a:p>
                      <a:r>
                        <a:rPr lang="en-IN" sz="1800" b="0" i="0" kern="1200" dirty="0">
                          <a:solidFill>
                            <a:schemeClr val="dk1"/>
                          </a:solidFill>
                          <a:effectLst/>
                          <a:latin typeface="+mn-lt"/>
                          <a:ea typeface="+mn-ea"/>
                          <a:cs typeface="+mn-cs"/>
                        </a:rPr>
                        <a:t>Highest</a:t>
                      </a:r>
                      <a:endParaRPr lang="en-IN" sz="1800" dirty="0"/>
                    </a:p>
                  </a:txBody>
                  <a:tcPr/>
                </a:tc>
                <a:tc>
                  <a:txBody>
                    <a:bodyPr/>
                    <a:lstStyle/>
                    <a:p>
                      <a:r>
                        <a:rPr lang="en-IN" sz="1800" b="0" i="0" kern="1200" dirty="0">
                          <a:solidFill>
                            <a:schemeClr val="dk1"/>
                          </a:solidFill>
                          <a:effectLst/>
                          <a:latin typeface="+mn-lt"/>
                          <a:ea typeface="+mn-ea"/>
                          <a:cs typeface="+mn-cs"/>
                        </a:rPr>
                        <a:t>Medium</a:t>
                      </a:r>
                      <a:endParaRPr lang="en-IN" sz="1800" dirty="0"/>
                    </a:p>
                  </a:txBody>
                  <a:tcPr/>
                </a:tc>
                <a:tc>
                  <a:txBody>
                    <a:bodyPr/>
                    <a:lstStyle/>
                    <a:p>
                      <a:r>
                        <a:rPr lang="en-IN" sz="1800" b="0" i="0" kern="1200" dirty="0">
                          <a:solidFill>
                            <a:schemeClr val="dk1"/>
                          </a:solidFill>
                          <a:effectLst/>
                          <a:latin typeface="+mn-lt"/>
                          <a:ea typeface="+mn-ea"/>
                          <a:cs typeface="+mn-cs"/>
                        </a:rPr>
                        <a:t>Lowest</a:t>
                      </a:r>
                      <a:endParaRPr lang="en-IN" sz="1800" dirty="0"/>
                    </a:p>
                  </a:txBody>
                  <a:tcPr/>
                </a:tc>
                <a:extLst>
                  <a:ext uri="{0D108BD9-81ED-4DB2-BD59-A6C34878D82A}">
                    <a16:rowId xmlns:a16="http://schemas.microsoft.com/office/drawing/2014/main" val="1511886408"/>
                  </a:ext>
                </a:extLst>
              </a:tr>
              <a:tr h="572568">
                <a:tc>
                  <a:txBody>
                    <a:bodyPr/>
                    <a:lstStyle/>
                    <a:p>
                      <a:r>
                        <a:rPr lang="en-IN" sz="1800" b="0" i="0" kern="1200" dirty="0">
                          <a:solidFill>
                            <a:schemeClr val="dk1"/>
                          </a:solidFill>
                          <a:effectLst/>
                          <a:latin typeface="+mn-lt"/>
                          <a:ea typeface="+mn-ea"/>
                          <a:cs typeface="+mn-cs"/>
                        </a:rPr>
                        <a:t>Best Use Case</a:t>
                      </a:r>
                      <a:endParaRPr lang="en-IN" sz="1800" dirty="0"/>
                    </a:p>
                  </a:txBody>
                  <a:tcPr/>
                </a:tc>
                <a:tc>
                  <a:txBody>
                    <a:bodyPr/>
                    <a:lstStyle/>
                    <a:p>
                      <a:r>
                        <a:rPr lang="en-IN" sz="1800" b="0" i="0" kern="1200" dirty="0">
                          <a:solidFill>
                            <a:schemeClr val="dk1"/>
                          </a:solidFill>
                          <a:effectLst/>
                          <a:latin typeface="+mn-lt"/>
                          <a:ea typeface="+mn-ea"/>
                          <a:cs typeface="+mn-cs"/>
                        </a:rPr>
                        <a:t>Quick, unique overrides</a:t>
                      </a:r>
                      <a:endParaRPr lang="en-IN" sz="1800" dirty="0"/>
                    </a:p>
                  </a:txBody>
                  <a:tcPr/>
                </a:tc>
                <a:tc>
                  <a:txBody>
                    <a:bodyPr/>
                    <a:lstStyle/>
                    <a:p>
                      <a:r>
                        <a:rPr lang="en-IN" sz="1800" b="0" i="0" kern="1200" dirty="0">
                          <a:solidFill>
                            <a:schemeClr val="dk1"/>
                          </a:solidFill>
                          <a:effectLst/>
                          <a:latin typeface="+mn-lt"/>
                          <a:ea typeface="+mn-ea"/>
                          <a:cs typeface="+mn-cs"/>
                        </a:rPr>
                        <a:t>Unique page styles</a:t>
                      </a:r>
                      <a:endParaRPr lang="en-IN" sz="1800" dirty="0"/>
                    </a:p>
                  </a:txBody>
                  <a:tcPr/>
                </a:tc>
                <a:tc>
                  <a:txBody>
                    <a:bodyPr/>
                    <a:lstStyle/>
                    <a:p>
                      <a:r>
                        <a:rPr lang="en-GB" sz="1800" b="0" i="0" kern="1200" dirty="0">
                          <a:solidFill>
                            <a:schemeClr val="dk1"/>
                          </a:solidFill>
                          <a:effectLst/>
                          <a:latin typeface="+mn-lt"/>
                          <a:ea typeface="+mn-ea"/>
                          <a:cs typeface="+mn-cs"/>
                        </a:rPr>
                        <a:t>Large/multi-page websites, best for consistency</a:t>
                      </a:r>
                      <a:endParaRPr lang="en-IN" sz="1800" dirty="0"/>
                    </a:p>
                  </a:txBody>
                  <a:tcPr/>
                </a:tc>
                <a:extLst>
                  <a:ext uri="{0D108BD9-81ED-4DB2-BD59-A6C34878D82A}">
                    <a16:rowId xmlns:a16="http://schemas.microsoft.com/office/drawing/2014/main" val="2637658624"/>
                  </a:ext>
                </a:extLst>
              </a:tr>
            </a:tbl>
          </a:graphicData>
        </a:graphic>
      </p:graphicFrame>
      <p:sp>
        <p:nvSpPr>
          <p:cNvPr id="6" name="TextBox 5">
            <a:extLst>
              <a:ext uri="{FF2B5EF4-FFF2-40B4-BE49-F238E27FC236}">
                <a16:creationId xmlns:a16="http://schemas.microsoft.com/office/drawing/2014/main" id="{3346D3C8-C4EB-DACD-C134-7F99F5F3C89A}"/>
              </a:ext>
            </a:extLst>
          </p:cNvPr>
          <p:cNvSpPr txBox="1"/>
          <p:nvPr/>
        </p:nvSpPr>
        <p:spPr>
          <a:xfrm>
            <a:off x="243191" y="1337709"/>
            <a:ext cx="11167354" cy="369332"/>
          </a:xfrm>
          <a:prstGeom prst="rect">
            <a:avLst/>
          </a:prstGeom>
          <a:noFill/>
        </p:spPr>
        <p:txBody>
          <a:bodyPr wrap="square">
            <a:spAutoFit/>
          </a:bodyPr>
          <a:lstStyle/>
          <a:p>
            <a:pPr marL="285750" indent="-285750">
              <a:buFont typeface="Wingdings" panose="05000000000000000000" pitchFamily="2" charset="2"/>
              <a:buChar char="q"/>
            </a:pPr>
            <a:r>
              <a:rPr lang="en-IN" dirty="0"/>
              <a:t>Key Differences Table</a:t>
            </a:r>
          </a:p>
        </p:txBody>
      </p:sp>
    </p:spTree>
    <p:extLst>
      <p:ext uri="{BB962C8B-B14F-4D97-AF65-F5344CB8AC3E}">
        <p14:creationId xmlns:p14="http://schemas.microsoft.com/office/powerpoint/2010/main" val="404967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EEE3E70-16B6-8E8C-C739-2C2987E37FA2}"/>
              </a:ext>
              <a:ext uri="{C183D7F6-B498-43B3-948B-1728B52AA6E4}">
                <adec:decorative xmlns:adec="http://schemas.microsoft.com/office/drawing/2017/decorative" val="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66426"/>
          <a:stretch/>
        </p:blipFill>
        <p:spPr>
          <a:xfrm>
            <a:off x="0" y="0"/>
            <a:ext cx="12192000" cy="2035834"/>
          </a:xfrm>
          <a:prstGeom prst="rect">
            <a:avLst/>
          </a:prstGeom>
          <a:ln>
            <a:noFill/>
          </a:ln>
          <a:effectLst>
            <a:outerShdw blurRad="50800" dist="38100" dir="2700000" algn="tl" rotWithShape="0">
              <a:prstClr val="black">
                <a:alpha val="40000"/>
              </a:prstClr>
            </a:outerShdw>
          </a:effectLst>
        </p:spPr>
      </p:pic>
      <p:sp>
        <p:nvSpPr>
          <p:cNvPr id="18" name="TextBox 17">
            <a:extLst>
              <a:ext uri="{FF2B5EF4-FFF2-40B4-BE49-F238E27FC236}">
                <a16:creationId xmlns:a16="http://schemas.microsoft.com/office/drawing/2014/main" id="{2E2B85E6-D6FA-09BE-34FD-6EA044A13BF9}"/>
              </a:ext>
            </a:extLst>
          </p:cNvPr>
          <p:cNvSpPr txBox="1"/>
          <p:nvPr/>
        </p:nvSpPr>
        <p:spPr>
          <a:xfrm>
            <a:off x="-1" y="742203"/>
            <a:ext cx="12192000" cy="954107"/>
          </a:xfrm>
          <a:prstGeom prst="rect">
            <a:avLst/>
          </a:prstGeom>
          <a:noFill/>
        </p:spPr>
        <p:txBody>
          <a:bodyPr wrap="square">
            <a:spAutoFit/>
          </a:bodyPr>
          <a:lstStyle/>
          <a:p>
            <a:pPr marL="514350" indent="-514350">
              <a:buFont typeface="+mj-lt"/>
              <a:buAutoNum type="arabicPeriod" startAt="2"/>
            </a:pPr>
            <a:r>
              <a:rPr lang="en-GB" sz="2800" b="1" dirty="0">
                <a:solidFill>
                  <a:schemeClr val="bg1"/>
                </a:solidFill>
              </a:rPr>
              <a:t>Describe CSS selectors and list the types of selectors (e.g., element, class, id). </a:t>
            </a:r>
          </a:p>
        </p:txBody>
      </p:sp>
      <p:sp>
        <p:nvSpPr>
          <p:cNvPr id="3" name="TextBox 2">
            <a:extLst>
              <a:ext uri="{FF2B5EF4-FFF2-40B4-BE49-F238E27FC236}">
                <a16:creationId xmlns:a16="http://schemas.microsoft.com/office/drawing/2014/main" id="{D8CF9FFB-E2F2-A276-2CB9-BB48DAB8E1EE}"/>
              </a:ext>
            </a:extLst>
          </p:cNvPr>
          <p:cNvSpPr txBox="1"/>
          <p:nvPr/>
        </p:nvSpPr>
        <p:spPr>
          <a:xfrm>
            <a:off x="284673" y="2385080"/>
            <a:ext cx="11645557" cy="923330"/>
          </a:xfrm>
          <a:prstGeom prst="rect">
            <a:avLst/>
          </a:prstGeom>
          <a:noFill/>
        </p:spPr>
        <p:txBody>
          <a:bodyPr wrap="square">
            <a:spAutoFit/>
          </a:bodyPr>
          <a:lstStyle/>
          <a:p>
            <a:pPr algn="just"/>
            <a:r>
              <a:rPr lang="en-GB" b="0" i="0" dirty="0">
                <a:effectLst/>
                <a:latin typeface="Arial" panose="020B0604020202020204" pitchFamily="34" charset="0"/>
                <a:cs typeface="Arial" panose="020B0604020202020204" pitchFamily="34" charset="0"/>
              </a:rPr>
              <a:t>CSS selectors are patterns used to select and target HTML elements that you want to style with CSS. They allow you to control which elements the CSS rules apply to, making it possible to customize the appearance and layout of web pages efficiently.</a:t>
            </a:r>
            <a:endParaRPr lang="en-IN"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78ABE745-F8F1-BC14-EE5F-D78DCC0AAD28}"/>
              </a:ext>
            </a:extLst>
          </p:cNvPr>
          <p:cNvSpPr txBox="1"/>
          <p:nvPr/>
        </p:nvSpPr>
        <p:spPr>
          <a:xfrm>
            <a:off x="107574" y="3327706"/>
            <a:ext cx="6217920" cy="523220"/>
          </a:xfrm>
          <a:prstGeom prst="rect">
            <a:avLst/>
          </a:prstGeom>
          <a:noFill/>
        </p:spPr>
        <p:txBody>
          <a:bodyPr wrap="square">
            <a:spAutoFit/>
          </a:bodyPr>
          <a:lstStyle/>
          <a:p>
            <a:pPr marL="285750" indent="-285750" algn="l">
              <a:buFont typeface="Wingdings" panose="05000000000000000000" pitchFamily="2" charset="2"/>
              <a:buChar char="q"/>
            </a:pPr>
            <a:r>
              <a:rPr lang="en-IN" sz="2800" b="1" i="0" dirty="0">
                <a:effectLst/>
                <a:latin typeface="Arial" panose="020B0604020202020204" pitchFamily="34" charset="0"/>
                <a:cs typeface="Arial" panose="020B0604020202020204" pitchFamily="34" charset="0"/>
              </a:rPr>
              <a:t>Types of CSS Selectors</a:t>
            </a:r>
          </a:p>
        </p:txBody>
      </p:sp>
      <p:sp>
        <p:nvSpPr>
          <p:cNvPr id="11" name="TextBox 10">
            <a:extLst>
              <a:ext uri="{FF2B5EF4-FFF2-40B4-BE49-F238E27FC236}">
                <a16:creationId xmlns:a16="http://schemas.microsoft.com/office/drawing/2014/main" id="{FECE677D-D652-98D9-37FA-A9B035C067CF}"/>
              </a:ext>
            </a:extLst>
          </p:cNvPr>
          <p:cNvSpPr txBox="1"/>
          <p:nvPr/>
        </p:nvSpPr>
        <p:spPr>
          <a:xfrm>
            <a:off x="344250" y="3861875"/>
            <a:ext cx="6217920" cy="400110"/>
          </a:xfrm>
          <a:prstGeom prst="rect">
            <a:avLst/>
          </a:prstGeom>
          <a:noFill/>
        </p:spPr>
        <p:txBody>
          <a:bodyPr wrap="square">
            <a:spAutoFit/>
          </a:bodyPr>
          <a:lstStyle/>
          <a:p>
            <a:pPr marL="457200" indent="-457200">
              <a:buFont typeface="+mj-lt"/>
              <a:buAutoNum type="arabicPeriod"/>
            </a:pPr>
            <a:r>
              <a:rPr lang="en-IN" sz="2000" b="1" dirty="0">
                <a:latin typeface="Arial" panose="020B0604020202020204" pitchFamily="34" charset="0"/>
                <a:cs typeface="Arial" panose="020B0604020202020204" pitchFamily="34" charset="0"/>
              </a:rPr>
              <a:t>Element (Type) Selector</a:t>
            </a:r>
          </a:p>
        </p:txBody>
      </p:sp>
      <p:sp>
        <p:nvSpPr>
          <p:cNvPr id="13" name="TextBox 12">
            <a:extLst>
              <a:ext uri="{FF2B5EF4-FFF2-40B4-BE49-F238E27FC236}">
                <a16:creationId xmlns:a16="http://schemas.microsoft.com/office/drawing/2014/main" id="{D59C865A-55D9-3C47-F9D5-74AF1EBEBE6C}"/>
              </a:ext>
            </a:extLst>
          </p:cNvPr>
          <p:cNvSpPr txBox="1"/>
          <p:nvPr/>
        </p:nvSpPr>
        <p:spPr>
          <a:xfrm>
            <a:off x="623942" y="4255570"/>
            <a:ext cx="6217920" cy="646331"/>
          </a:xfrm>
          <a:prstGeom prst="rect">
            <a:avLst/>
          </a:prstGeom>
          <a:noFill/>
        </p:spPr>
        <p:txBody>
          <a:bodyPr wrap="square">
            <a:spAutoFit/>
          </a:body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Selects HTML elements by their tag name.</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Example: p { </a:t>
            </a:r>
            <a:r>
              <a:rPr lang="en-GB" dirty="0" err="1">
                <a:latin typeface="Arial" panose="020B0604020202020204" pitchFamily="34" charset="0"/>
                <a:cs typeface="Arial" panose="020B0604020202020204" pitchFamily="34" charset="0"/>
              </a:rPr>
              <a:t>color</a:t>
            </a:r>
            <a:r>
              <a:rPr lang="en-GB" dirty="0">
                <a:latin typeface="Arial" panose="020B0604020202020204" pitchFamily="34" charset="0"/>
                <a:cs typeface="Arial" panose="020B0604020202020204" pitchFamily="34" charset="0"/>
              </a:rPr>
              <a:t>: orange; } (styles all &lt;p&gt; tags).</a:t>
            </a:r>
            <a:endParaRPr lang="en-IN"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0501B28C-AAB2-7C5A-89F5-A74F8579ADEC}"/>
              </a:ext>
            </a:extLst>
          </p:cNvPr>
          <p:cNvSpPr txBox="1"/>
          <p:nvPr/>
        </p:nvSpPr>
        <p:spPr>
          <a:xfrm>
            <a:off x="344250" y="4941368"/>
            <a:ext cx="6314728" cy="400110"/>
          </a:xfrm>
          <a:prstGeom prst="rect">
            <a:avLst/>
          </a:prstGeom>
          <a:noFill/>
        </p:spPr>
        <p:txBody>
          <a:bodyPr wrap="square">
            <a:spAutoFit/>
          </a:bodyPr>
          <a:lstStyle/>
          <a:p>
            <a:pPr marL="342900" indent="-342900">
              <a:buFont typeface="+mj-lt"/>
              <a:buAutoNum type="arabicPeriod" startAt="2"/>
            </a:pPr>
            <a:r>
              <a:rPr lang="en-IN" sz="2000" b="1" i="0" dirty="0">
                <a:effectLst/>
                <a:latin typeface="Arial" panose="020B0604020202020204" pitchFamily="34" charset="0"/>
                <a:cs typeface="Arial" panose="020B0604020202020204" pitchFamily="34" charset="0"/>
              </a:rPr>
              <a:t>Class Selector</a:t>
            </a:r>
            <a:endParaRPr lang="en-IN" sz="20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2CC9A4ED-E51D-2A78-5AF1-A4245E8C7BF8}"/>
              </a:ext>
            </a:extLst>
          </p:cNvPr>
          <p:cNvSpPr txBox="1"/>
          <p:nvPr/>
        </p:nvSpPr>
        <p:spPr>
          <a:xfrm>
            <a:off x="623942" y="5323267"/>
            <a:ext cx="11306288" cy="646331"/>
          </a:xfrm>
          <a:prstGeom prst="rect">
            <a:avLst/>
          </a:prstGeom>
          <a:noFill/>
        </p:spPr>
        <p:txBody>
          <a:bodyPr wrap="square">
            <a:spAutoFit/>
          </a:bodyPr>
          <a:lstStyle/>
          <a:p>
            <a:pPr marL="285750" indent="-285750">
              <a:buFont typeface="Arial" panose="020B0604020202020204" pitchFamily="34" charset="0"/>
              <a:buChar char="•"/>
            </a:pPr>
            <a:r>
              <a:rPr lang="en-GB" dirty="0"/>
              <a:t>Targets elements with a specific class attribute. Prefixed with a period (.).</a:t>
            </a:r>
          </a:p>
          <a:p>
            <a:pPr marL="285750" indent="-285750">
              <a:buFont typeface="Arial" panose="020B0604020202020204" pitchFamily="34" charset="0"/>
              <a:buChar char="•"/>
            </a:pPr>
            <a:r>
              <a:rPr lang="en-GB" dirty="0"/>
              <a:t>Example: .highlight { background: yellow; } (styles elements with class highlight).</a:t>
            </a:r>
            <a:endParaRPr lang="en-IN" dirty="0"/>
          </a:p>
        </p:txBody>
      </p:sp>
    </p:spTree>
    <p:extLst>
      <p:ext uri="{BB962C8B-B14F-4D97-AF65-F5344CB8AC3E}">
        <p14:creationId xmlns:p14="http://schemas.microsoft.com/office/powerpoint/2010/main" val="28646140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B44445-75C4-C13E-CFFF-9FF10D3012C7}"/>
              </a:ext>
            </a:extLst>
          </p:cNvPr>
          <p:cNvSpPr txBox="1"/>
          <p:nvPr/>
        </p:nvSpPr>
        <p:spPr>
          <a:xfrm>
            <a:off x="185573" y="170324"/>
            <a:ext cx="6094206" cy="400110"/>
          </a:xfrm>
          <a:prstGeom prst="rect">
            <a:avLst/>
          </a:prstGeom>
          <a:noFill/>
        </p:spPr>
        <p:txBody>
          <a:bodyPr wrap="square">
            <a:spAutoFit/>
          </a:bodyPr>
          <a:lstStyle/>
          <a:p>
            <a:pPr marL="457200" indent="-457200">
              <a:buFont typeface="+mj-lt"/>
              <a:buAutoNum type="arabicPeriod" startAt="3"/>
            </a:pPr>
            <a:r>
              <a:rPr lang="en-IN" sz="2000" b="1" i="0" dirty="0">
                <a:effectLst/>
                <a:latin typeface="Arial" panose="020B0604020202020204" pitchFamily="34" charset="0"/>
                <a:cs typeface="Arial" panose="020B0604020202020204" pitchFamily="34" charset="0"/>
              </a:rPr>
              <a:t>ID Selector</a:t>
            </a:r>
            <a:endParaRPr lang="en-IN" sz="20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92C37AD8-C141-33F4-2CE3-922A436100DD}"/>
              </a:ext>
            </a:extLst>
          </p:cNvPr>
          <p:cNvSpPr txBox="1"/>
          <p:nvPr/>
        </p:nvSpPr>
        <p:spPr>
          <a:xfrm>
            <a:off x="389966" y="509211"/>
            <a:ext cx="11507991" cy="646331"/>
          </a:xfrm>
          <a:prstGeom prst="rect">
            <a:avLst/>
          </a:prstGeom>
          <a:noFill/>
        </p:spPr>
        <p:txBody>
          <a:bodyPr wrap="square">
            <a:spAutoFit/>
          </a:body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Selects an element with a unique id attribute. Prefixed with a hash (#).</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Example: #main { font-size: 18px; } (styles the element with id main).</a:t>
            </a:r>
            <a:endParaRPr lang="en-IN"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85248FCA-5ECF-D45C-42FB-33221003528E}"/>
              </a:ext>
            </a:extLst>
          </p:cNvPr>
          <p:cNvSpPr txBox="1"/>
          <p:nvPr/>
        </p:nvSpPr>
        <p:spPr>
          <a:xfrm>
            <a:off x="185573" y="1170794"/>
            <a:ext cx="6535261" cy="400110"/>
          </a:xfrm>
          <a:prstGeom prst="rect">
            <a:avLst/>
          </a:prstGeom>
          <a:noFill/>
        </p:spPr>
        <p:txBody>
          <a:bodyPr wrap="square">
            <a:spAutoFit/>
          </a:bodyPr>
          <a:lstStyle/>
          <a:p>
            <a:pPr marL="457200" indent="-457200">
              <a:buFont typeface="+mj-lt"/>
              <a:buAutoNum type="arabicPeriod" startAt="4"/>
            </a:pPr>
            <a:r>
              <a:rPr lang="en-IN" sz="2000" b="1" dirty="0">
                <a:latin typeface="Arial" panose="020B0604020202020204" pitchFamily="34" charset="0"/>
                <a:cs typeface="Arial" panose="020B0604020202020204" pitchFamily="34" charset="0"/>
              </a:rPr>
              <a:t>Universal Selector</a:t>
            </a:r>
          </a:p>
        </p:txBody>
      </p:sp>
      <p:sp>
        <p:nvSpPr>
          <p:cNvPr id="9" name="TextBox 8">
            <a:extLst>
              <a:ext uri="{FF2B5EF4-FFF2-40B4-BE49-F238E27FC236}">
                <a16:creationId xmlns:a16="http://schemas.microsoft.com/office/drawing/2014/main" id="{9AB4D408-1D70-60B8-0F12-8475F53EF501}"/>
              </a:ext>
            </a:extLst>
          </p:cNvPr>
          <p:cNvSpPr txBox="1"/>
          <p:nvPr/>
        </p:nvSpPr>
        <p:spPr>
          <a:xfrm>
            <a:off x="389966" y="1551359"/>
            <a:ext cx="11056166" cy="646331"/>
          </a:xfrm>
          <a:prstGeom prst="rect">
            <a:avLst/>
          </a:prstGeom>
          <a:noFill/>
        </p:spPr>
        <p:txBody>
          <a:bodyPr wrap="square">
            <a:spAutoFit/>
          </a:bodyPr>
          <a:lstStyle/>
          <a:p>
            <a:pPr marL="285750" indent="-285750">
              <a:buFont typeface="Arial" panose="020B0604020202020204" pitchFamily="34" charset="0"/>
              <a:buChar char="•"/>
            </a:pPr>
            <a:r>
              <a:rPr lang="en-GB" dirty="0"/>
              <a:t>Selects all elements on the page using an asterisk (*).</a:t>
            </a:r>
          </a:p>
          <a:p>
            <a:pPr marL="285750" indent="-285750">
              <a:buFont typeface="Arial" panose="020B0604020202020204" pitchFamily="34" charset="0"/>
              <a:buChar char="•"/>
            </a:pPr>
            <a:r>
              <a:rPr lang="en-GB" dirty="0"/>
              <a:t>Example: * { font-family: Arial; } (applies font to every element).</a:t>
            </a:r>
            <a:endParaRPr lang="en-IN" dirty="0"/>
          </a:p>
        </p:txBody>
      </p:sp>
      <p:sp>
        <p:nvSpPr>
          <p:cNvPr id="11" name="TextBox 10">
            <a:extLst>
              <a:ext uri="{FF2B5EF4-FFF2-40B4-BE49-F238E27FC236}">
                <a16:creationId xmlns:a16="http://schemas.microsoft.com/office/drawing/2014/main" id="{6030674D-D8D5-8FAB-6B60-1B608CE2EF4B}"/>
              </a:ext>
            </a:extLst>
          </p:cNvPr>
          <p:cNvSpPr txBox="1"/>
          <p:nvPr/>
        </p:nvSpPr>
        <p:spPr>
          <a:xfrm>
            <a:off x="185573" y="2160498"/>
            <a:ext cx="6266337" cy="400110"/>
          </a:xfrm>
          <a:prstGeom prst="rect">
            <a:avLst/>
          </a:prstGeom>
          <a:noFill/>
        </p:spPr>
        <p:txBody>
          <a:bodyPr wrap="square">
            <a:spAutoFit/>
          </a:bodyPr>
          <a:lstStyle/>
          <a:p>
            <a:pPr marL="457200" indent="-457200">
              <a:buFont typeface="+mj-lt"/>
              <a:buAutoNum type="arabicPeriod" startAt="5"/>
            </a:pPr>
            <a:r>
              <a:rPr lang="en-IN" sz="2000" b="1" dirty="0">
                <a:latin typeface="Arial" panose="020B0604020202020204" pitchFamily="34" charset="0"/>
                <a:cs typeface="Arial" panose="020B0604020202020204" pitchFamily="34" charset="0"/>
              </a:rPr>
              <a:t>Group Selector</a:t>
            </a:r>
          </a:p>
        </p:txBody>
      </p:sp>
      <p:sp>
        <p:nvSpPr>
          <p:cNvPr id="13" name="TextBox 12">
            <a:extLst>
              <a:ext uri="{FF2B5EF4-FFF2-40B4-BE49-F238E27FC236}">
                <a16:creationId xmlns:a16="http://schemas.microsoft.com/office/drawing/2014/main" id="{F9C0242A-82EB-7733-00B7-D8EB590E9DA3}"/>
              </a:ext>
            </a:extLst>
          </p:cNvPr>
          <p:cNvSpPr txBox="1"/>
          <p:nvPr/>
        </p:nvSpPr>
        <p:spPr>
          <a:xfrm>
            <a:off x="389967" y="2585449"/>
            <a:ext cx="11335866" cy="646331"/>
          </a:xfrm>
          <a:prstGeom prst="rect">
            <a:avLst/>
          </a:prstGeom>
          <a:noFill/>
        </p:spPr>
        <p:txBody>
          <a:bodyPr wrap="square">
            <a:spAutoFit/>
          </a:bodyPr>
          <a:lstStyle/>
          <a:p>
            <a:pPr marL="285750" indent="-285750">
              <a:buFont typeface="Arial" panose="020B0604020202020204" pitchFamily="34" charset="0"/>
              <a:buChar char="•"/>
            </a:pPr>
            <a:r>
              <a:rPr lang="en-GB"/>
              <a:t>Selects multiple unrelated elements and applies the same style to all.</a:t>
            </a:r>
          </a:p>
          <a:p>
            <a:pPr marL="285750" indent="-285750">
              <a:buFont typeface="Arial" panose="020B0604020202020204" pitchFamily="34" charset="0"/>
              <a:buChar char="•"/>
            </a:pPr>
            <a:r>
              <a:rPr lang="en-GB"/>
              <a:t>Example: h1, h2, h3 { font-weight: bold; } (styles all headings at once).</a:t>
            </a:r>
            <a:endParaRPr lang="en-IN" dirty="0"/>
          </a:p>
        </p:txBody>
      </p:sp>
      <p:sp>
        <p:nvSpPr>
          <p:cNvPr id="15" name="TextBox 14">
            <a:extLst>
              <a:ext uri="{FF2B5EF4-FFF2-40B4-BE49-F238E27FC236}">
                <a16:creationId xmlns:a16="http://schemas.microsoft.com/office/drawing/2014/main" id="{E35DA2B7-D3FA-903E-01C1-E922DD6DCA3F}"/>
              </a:ext>
            </a:extLst>
          </p:cNvPr>
          <p:cNvSpPr txBox="1"/>
          <p:nvPr/>
        </p:nvSpPr>
        <p:spPr>
          <a:xfrm>
            <a:off x="185573" y="3247023"/>
            <a:ext cx="10722681" cy="400110"/>
          </a:xfrm>
          <a:prstGeom prst="rect">
            <a:avLst/>
          </a:prstGeom>
          <a:noFill/>
        </p:spPr>
        <p:txBody>
          <a:bodyPr wrap="square">
            <a:spAutoFit/>
          </a:bodyPr>
          <a:lstStyle/>
          <a:p>
            <a:pPr marL="457200" indent="-457200">
              <a:buFont typeface="+mj-lt"/>
              <a:buAutoNum type="arabicPeriod" startAt="6"/>
            </a:pPr>
            <a:r>
              <a:rPr lang="en-IN" sz="2000" b="1" dirty="0">
                <a:latin typeface="Arial" panose="020B0604020202020204" pitchFamily="34" charset="0"/>
                <a:cs typeface="Arial" panose="020B0604020202020204" pitchFamily="34" charset="0"/>
              </a:rPr>
              <a:t>Attribute Selector</a:t>
            </a:r>
          </a:p>
        </p:txBody>
      </p:sp>
      <p:sp>
        <p:nvSpPr>
          <p:cNvPr id="17" name="TextBox 16">
            <a:extLst>
              <a:ext uri="{FF2B5EF4-FFF2-40B4-BE49-F238E27FC236}">
                <a16:creationId xmlns:a16="http://schemas.microsoft.com/office/drawing/2014/main" id="{27A5BF1F-A3F1-0F6C-BFA9-7A61A49BAFC1}"/>
              </a:ext>
            </a:extLst>
          </p:cNvPr>
          <p:cNvSpPr txBox="1"/>
          <p:nvPr/>
        </p:nvSpPr>
        <p:spPr>
          <a:xfrm>
            <a:off x="389967" y="3649104"/>
            <a:ext cx="11335866" cy="646331"/>
          </a:xfrm>
          <a:prstGeom prst="rect">
            <a:avLst/>
          </a:prstGeom>
          <a:noFill/>
        </p:spPr>
        <p:txBody>
          <a:bodyPr wrap="square">
            <a:spAutoFit/>
          </a:bodyPr>
          <a:lstStyle/>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Targets elements based on specific attributes or attribute values.</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Example: input[type="text"] { border: 1px solid; }</a:t>
            </a:r>
          </a:p>
        </p:txBody>
      </p:sp>
      <p:sp>
        <p:nvSpPr>
          <p:cNvPr id="19" name="TextBox 18">
            <a:extLst>
              <a:ext uri="{FF2B5EF4-FFF2-40B4-BE49-F238E27FC236}">
                <a16:creationId xmlns:a16="http://schemas.microsoft.com/office/drawing/2014/main" id="{A6187EB3-675D-589F-5113-DB4A5EEEEB3E}"/>
              </a:ext>
            </a:extLst>
          </p:cNvPr>
          <p:cNvSpPr txBox="1"/>
          <p:nvPr/>
        </p:nvSpPr>
        <p:spPr>
          <a:xfrm>
            <a:off x="185573" y="4365821"/>
            <a:ext cx="6330876" cy="400110"/>
          </a:xfrm>
          <a:prstGeom prst="rect">
            <a:avLst/>
          </a:prstGeom>
          <a:noFill/>
        </p:spPr>
        <p:txBody>
          <a:bodyPr wrap="square">
            <a:spAutoFit/>
          </a:bodyPr>
          <a:lstStyle/>
          <a:p>
            <a:pPr marL="342900" indent="-342900">
              <a:buFont typeface="+mj-lt"/>
              <a:buAutoNum type="arabicPeriod" startAt="7"/>
            </a:pPr>
            <a:r>
              <a:rPr lang="en-IN" sz="2000" dirty="0">
                <a:latin typeface="Arial" panose="020B0604020202020204" pitchFamily="34" charset="0"/>
                <a:cs typeface="Arial" panose="020B0604020202020204" pitchFamily="34" charset="0"/>
              </a:rPr>
              <a:t>Combinator Selector</a:t>
            </a:r>
          </a:p>
        </p:txBody>
      </p:sp>
      <p:sp>
        <p:nvSpPr>
          <p:cNvPr id="21" name="TextBox 20">
            <a:extLst>
              <a:ext uri="{FF2B5EF4-FFF2-40B4-BE49-F238E27FC236}">
                <a16:creationId xmlns:a16="http://schemas.microsoft.com/office/drawing/2014/main" id="{6E38D276-55DD-EF10-B647-0D76F7969426}"/>
              </a:ext>
            </a:extLst>
          </p:cNvPr>
          <p:cNvSpPr txBox="1"/>
          <p:nvPr/>
        </p:nvSpPr>
        <p:spPr>
          <a:xfrm>
            <a:off x="389966" y="4757142"/>
            <a:ext cx="11335866" cy="646331"/>
          </a:xfrm>
          <a:prstGeom prst="rect">
            <a:avLst/>
          </a:prstGeom>
          <a:noFill/>
        </p:spPr>
        <p:txBody>
          <a:bodyPr wrap="square">
            <a:spAutoFit/>
          </a:bodyPr>
          <a:lstStyle/>
          <a:p>
            <a:pPr marL="285750" indent="-285750">
              <a:buFont typeface="Arial" panose="020B0604020202020204" pitchFamily="34" charset="0"/>
              <a:buChar char="•"/>
            </a:pPr>
            <a:r>
              <a:rPr lang="en-GB" dirty="0"/>
              <a:t>Selects elements based on their state (hover, focus, nth-child, etc.).</a:t>
            </a:r>
          </a:p>
          <a:p>
            <a:pPr marL="285750" indent="-285750">
              <a:buFont typeface="Arial" panose="020B0604020202020204" pitchFamily="34" charset="0"/>
              <a:buChar char="•"/>
            </a:pPr>
            <a:r>
              <a:rPr lang="en-GB" dirty="0"/>
              <a:t>Example: a:hover { text-decoration: underline; }</a:t>
            </a:r>
            <a:endParaRPr lang="en-IN" dirty="0"/>
          </a:p>
        </p:txBody>
      </p:sp>
    </p:spTree>
    <p:extLst>
      <p:ext uri="{BB962C8B-B14F-4D97-AF65-F5344CB8AC3E}">
        <p14:creationId xmlns:p14="http://schemas.microsoft.com/office/powerpoint/2010/main" val="3022892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6D93E4D-5E71-BCB6-03F1-B4F60E0A48A0}"/>
              </a:ext>
            </a:extLst>
          </p:cNvPr>
          <p:cNvGraphicFramePr>
            <a:graphicFrameLocks noGrp="1"/>
          </p:cNvGraphicFramePr>
          <p:nvPr>
            <p:extLst>
              <p:ext uri="{D42A27DB-BD31-4B8C-83A1-F6EECF244321}">
                <p14:modId xmlns:p14="http://schemas.microsoft.com/office/powerpoint/2010/main" val="2125217917"/>
              </p:ext>
            </p:extLst>
          </p:nvPr>
        </p:nvGraphicFramePr>
        <p:xfrm>
          <a:off x="398033" y="247426"/>
          <a:ext cx="11370832" cy="6226276"/>
        </p:xfrm>
        <a:graphic>
          <a:graphicData uri="http://schemas.openxmlformats.org/drawingml/2006/table">
            <a:tbl>
              <a:tblPr firstRow="1" bandRow="1">
                <a:tableStyleId>{073A0DAA-6AF3-43AB-8588-CEC1D06C72B9}</a:tableStyleId>
              </a:tblPr>
              <a:tblGrid>
                <a:gridCol w="3761288">
                  <a:extLst>
                    <a:ext uri="{9D8B030D-6E8A-4147-A177-3AD203B41FA5}">
                      <a16:colId xmlns:a16="http://schemas.microsoft.com/office/drawing/2014/main" val="1056398284"/>
                    </a:ext>
                  </a:extLst>
                </a:gridCol>
                <a:gridCol w="3804772">
                  <a:extLst>
                    <a:ext uri="{9D8B030D-6E8A-4147-A177-3AD203B41FA5}">
                      <a16:colId xmlns:a16="http://schemas.microsoft.com/office/drawing/2014/main" val="3638586738"/>
                    </a:ext>
                  </a:extLst>
                </a:gridCol>
                <a:gridCol w="3804772">
                  <a:extLst>
                    <a:ext uri="{9D8B030D-6E8A-4147-A177-3AD203B41FA5}">
                      <a16:colId xmlns:a16="http://schemas.microsoft.com/office/drawing/2014/main" val="3680495302"/>
                    </a:ext>
                  </a:extLst>
                </a:gridCol>
              </a:tblGrid>
              <a:tr h="690804">
                <a:tc>
                  <a:txBody>
                    <a:bodyPr/>
                    <a:lstStyle/>
                    <a:p>
                      <a:r>
                        <a:rPr lang="en-IN" sz="1800" b="0" i="0" kern="1200" dirty="0">
                          <a:solidFill>
                            <a:schemeClr val="lt1"/>
                          </a:solidFill>
                          <a:effectLst/>
                          <a:latin typeface="+mn-lt"/>
                          <a:ea typeface="+mn-ea"/>
                          <a:cs typeface="+mn-cs"/>
                        </a:rPr>
                        <a:t>Selector Type</a:t>
                      </a:r>
                      <a:endParaRPr lang="en-IN" dirty="0"/>
                    </a:p>
                  </a:txBody>
                  <a:tcPr/>
                </a:tc>
                <a:tc>
                  <a:txBody>
                    <a:bodyPr/>
                    <a:lstStyle/>
                    <a:p>
                      <a:r>
                        <a:rPr lang="en-IN" sz="1800" b="0" i="0" kern="1200" dirty="0">
                          <a:solidFill>
                            <a:schemeClr val="lt1"/>
                          </a:solidFill>
                          <a:effectLst/>
                          <a:latin typeface="+mn-lt"/>
                          <a:ea typeface="+mn-ea"/>
                          <a:cs typeface="+mn-cs"/>
                        </a:rPr>
                        <a:t>Syntax Example</a:t>
                      </a:r>
                      <a:endParaRPr lang="en-IN" dirty="0"/>
                    </a:p>
                  </a:txBody>
                  <a:tcPr/>
                </a:tc>
                <a:tc>
                  <a:txBody>
                    <a:bodyPr/>
                    <a:lstStyle/>
                    <a:p>
                      <a:r>
                        <a:rPr lang="en-IN" sz="1800" b="0" i="0" kern="1200" dirty="0">
                          <a:solidFill>
                            <a:schemeClr val="lt1"/>
                          </a:solidFill>
                          <a:effectLst/>
                          <a:latin typeface="+mn-lt"/>
                          <a:ea typeface="+mn-ea"/>
                          <a:cs typeface="+mn-cs"/>
                        </a:rPr>
                        <a:t>Description</a:t>
                      </a:r>
                      <a:endParaRPr lang="en-IN" dirty="0"/>
                    </a:p>
                  </a:txBody>
                  <a:tcPr/>
                </a:tc>
                <a:extLst>
                  <a:ext uri="{0D108BD9-81ED-4DB2-BD59-A6C34878D82A}">
                    <a16:rowId xmlns:a16="http://schemas.microsoft.com/office/drawing/2014/main" val="1750298583"/>
                  </a:ext>
                </a:extLst>
              </a:tr>
              <a:tr h="690804">
                <a:tc>
                  <a:txBody>
                    <a:bodyPr/>
                    <a:lstStyle/>
                    <a:p>
                      <a:pPr fontAlgn="base" latinLnBrk="0"/>
                      <a:r>
                        <a:rPr lang="en-IN">
                          <a:effectLst/>
                        </a:rPr>
                        <a:t>Element (Type)</a:t>
                      </a:r>
                    </a:p>
                  </a:txBody>
                  <a:tcPr anchor="ctr"/>
                </a:tc>
                <a:tc>
                  <a:txBody>
                    <a:bodyPr/>
                    <a:lstStyle/>
                    <a:p>
                      <a:pPr fontAlgn="base" latinLnBrk="0"/>
                      <a:r>
                        <a:rPr lang="en-IN">
                          <a:effectLst/>
                        </a:rPr>
                        <a:t>p {}</a:t>
                      </a:r>
                    </a:p>
                  </a:txBody>
                  <a:tcPr anchor="ctr"/>
                </a:tc>
                <a:tc>
                  <a:txBody>
                    <a:bodyPr/>
                    <a:lstStyle/>
                    <a:p>
                      <a:pPr fontAlgn="base" latinLnBrk="0"/>
                      <a:r>
                        <a:rPr lang="en-IN" dirty="0">
                          <a:effectLst/>
                        </a:rPr>
                        <a:t>Selects all paragraphs</a:t>
                      </a:r>
                    </a:p>
                  </a:txBody>
                  <a:tcPr anchor="ctr"/>
                </a:tc>
                <a:extLst>
                  <a:ext uri="{0D108BD9-81ED-4DB2-BD59-A6C34878D82A}">
                    <a16:rowId xmlns:a16="http://schemas.microsoft.com/office/drawing/2014/main" val="403532168"/>
                  </a:ext>
                </a:extLst>
              </a:tr>
              <a:tr h="692612">
                <a:tc>
                  <a:txBody>
                    <a:bodyPr/>
                    <a:lstStyle/>
                    <a:p>
                      <a:pPr fontAlgn="base" latinLnBrk="0"/>
                      <a:r>
                        <a:rPr lang="en-IN">
                          <a:effectLst/>
                        </a:rPr>
                        <a:t>Class</a:t>
                      </a:r>
                    </a:p>
                  </a:txBody>
                  <a:tcPr anchor="ctr"/>
                </a:tc>
                <a:tc>
                  <a:txBody>
                    <a:bodyPr/>
                    <a:lstStyle/>
                    <a:p>
                      <a:pPr fontAlgn="base" latinLnBrk="0"/>
                      <a:r>
                        <a:rPr lang="en-IN">
                          <a:effectLst/>
                        </a:rPr>
                        <a:t>.className {}</a:t>
                      </a:r>
                    </a:p>
                  </a:txBody>
                  <a:tcPr anchor="ctr"/>
                </a:tc>
                <a:tc>
                  <a:txBody>
                    <a:bodyPr/>
                    <a:lstStyle/>
                    <a:p>
                      <a:pPr fontAlgn="base" latinLnBrk="0"/>
                      <a:r>
                        <a:rPr lang="en-GB">
                          <a:effectLst/>
                        </a:rPr>
                        <a:t>Selects all elements with .className</a:t>
                      </a:r>
                    </a:p>
                  </a:txBody>
                  <a:tcPr anchor="ctr"/>
                </a:tc>
                <a:extLst>
                  <a:ext uri="{0D108BD9-81ED-4DB2-BD59-A6C34878D82A}">
                    <a16:rowId xmlns:a16="http://schemas.microsoft.com/office/drawing/2014/main" val="619280492"/>
                  </a:ext>
                </a:extLst>
              </a:tr>
              <a:tr h="692612">
                <a:tc>
                  <a:txBody>
                    <a:bodyPr/>
                    <a:lstStyle/>
                    <a:p>
                      <a:pPr fontAlgn="base" latinLnBrk="0"/>
                      <a:r>
                        <a:rPr lang="en-IN">
                          <a:effectLst/>
                        </a:rPr>
                        <a:t>ID</a:t>
                      </a:r>
                    </a:p>
                  </a:txBody>
                  <a:tcPr anchor="ctr"/>
                </a:tc>
                <a:tc>
                  <a:txBody>
                    <a:bodyPr/>
                    <a:lstStyle/>
                    <a:p>
                      <a:pPr fontAlgn="base" latinLnBrk="0"/>
                      <a:r>
                        <a:rPr lang="en-IN">
                          <a:effectLst/>
                        </a:rPr>
                        <a:t>#idName {}</a:t>
                      </a:r>
                    </a:p>
                  </a:txBody>
                  <a:tcPr anchor="ctr"/>
                </a:tc>
                <a:tc>
                  <a:txBody>
                    <a:bodyPr/>
                    <a:lstStyle/>
                    <a:p>
                      <a:pPr fontAlgn="base" latinLnBrk="0"/>
                      <a:r>
                        <a:rPr lang="en-GB">
                          <a:effectLst/>
                        </a:rPr>
                        <a:t>Selects the element with idName</a:t>
                      </a:r>
                    </a:p>
                  </a:txBody>
                  <a:tcPr anchor="ctr"/>
                </a:tc>
                <a:extLst>
                  <a:ext uri="{0D108BD9-81ED-4DB2-BD59-A6C34878D82A}">
                    <a16:rowId xmlns:a16="http://schemas.microsoft.com/office/drawing/2014/main" val="2175167290"/>
                  </a:ext>
                </a:extLst>
              </a:tr>
              <a:tr h="690804">
                <a:tc>
                  <a:txBody>
                    <a:bodyPr/>
                    <a:lstStyle/>
                    <a:p>
                      <a:pPr fontAlgn="base" latinLnBrk="0"/>
                      <a:r>
                        <a:rPr lang="en-IN">
                          <a:effectLst/>
                        </a:rPr>
                        <a:t>Universal</a:t>
                      </a:r>
                    </a:p>
                  </a:txBody>
                  <a:tcPr anchor="ctr"/>
                </a:tc>
                <a:tc>
                  <a:txBody>
                    <a:bodyPr/>
                    <a:lstStyle/>
                    <a:p>
                      <a:pPr fontAlgn="base" latinLnBrk="0"/>
                      <a:r>
                        <a:rPr lang="en-IN">
                          <a:effectLst/>
                        </a:rPr>
                        <a:t>* {}</a:t>
                      </a:r>
                    </a:p>
                  </a:txBody>
                  <a:tcPr anchor="ctr"/>
                </a:tc>
                <a:tc>
                  <a:txBody>
                    <a:bodyPr/>
                    <a:lstStyle/>
                    <a:p>
                      <a:pPr fontAlgn="base" latinLnBrk="0"/>
                      <a:r>
                        <a:rPr lang="en-IN">
                          <a:effectLst/>
                        </a:rPr>
                        <a:t>Selects all elements</a:t>
                      </a:r>
                    </a:p>
                  </a:txBody>
                  <a:tcPr anchor="ctr"/>
                </a:tc>
                <a:extLst>
                  <a:ext uri="{0D108BD9-81ED-4DB2-BD59-A6C34878D82A}">
                    <a16:rowId xmlns:a16="http://schemas.microsoft.com/office/drawing/2014/main" val="140307099"/>
                  </a:ext>
                </a:extLst>
              </a:tr>
              <a:tr h="690804">
                <a:tc>
                  <a:txBody>
                    <a:bodyPr/>
                    <a:lstStyle/>
                    <a:p>
                      <a:pPr fontAlgn="base" latinLnBrk="0"/>
                      <a:r>
                        <a:rPr lang="en-IN">
                          <a:effectLst/>
                        </a:rPr>
                        <a:t>Group</a:t>
                      </a:r>
                    </a:p>
                  </a:txBody>
                  <a:tcPr anchor="ctr"/>
                </a:tc>
                <a:tc>
                  <a:txBody>
                    <a:bodyPr/>
                    <a:lstStyle/>
                    <a:p>
                      <a:pPr fontAlgn="base" latinLnBrk="0"/>
                      <a:r>
                        <a:rPr lang="en-IN">
                          <a:effectLst/>
                        </a:rPr>
                        <a:t>h1, h2 {}</a:t>
                      </a:r>
                    </a:p>
                  </a:txBody>
                  <a:tcPr anchor="ctr"/>
                </a:tc>
                <a:tc>
                  <a:txBody>
                    <a:bodyPr/>
                    <a:lstStyle/>
                    <a:p>
                      <a:pPr fontAlgn="base" latinLnBrk="0"/>
                      <a:r>
                        <a:rPr lang="en-IN">
                          <a:effectLst/>
                        </a:rPr>
                        <a:t>Selects multiple elements</a:t>
                      </a:r>
                    </a:p>
                  </a:txBody>
                  <a:tcPr anchor="ctr"/>
                </a:tc>
                <a:extLst>
                  <a:ext uri="{0D108BD9-81ED-4DB2-BD59-A6C34878D82A}">
                    <a16:rowId xmlns:a16="http://schemas.microsoft.com/office/drawing/2014/main" val="2532004572"/>
                  </a:ext>
                </a:extLst>
              </a:tr>
              <a:tr h="692612">
                <a:tc>
                  <a:txBody>
                    <a:bodyPr/>
                    <a:lstStyle/>
                    <a:p>
                      <a:pPr fontAlgn="base" latinLnBrk="0"/>
                      <a:r>
                        <a:rPr lang="en-IN">
                          <a:effectLst/>
                        </a:rPr>
                        <a:t>Attribute</a:t>
                      </a:r>
                    </a:p>
                  </a:txBody>
                  <a:tcPr anchor="ctr"/>
                </a:tc>
                <a:tc>
                  <a:txBody>
                    <a:bodyPr/>
                    <a:lstStyle/>
                    <a:p>
                      <a:pPr fontAlgn="base" latinLnBrk="0"/>
                      <a:r>
                        <a:rPr lang="en-IN">
                          <a:effectLst/>
                        </a:rPr>
                        <a:t>[type="text"] {}</a:t>
                      </a:r>
                    </a:p>
                  </a:txBody>
                  <a:tcPr anchor="ctr"/>
                </a:tc>
                <a:tc>
                  <a:txBody>
                    <a:bodyPr/>
                    <a:lstStyle/>
                    <a:p>
                      <a:pPr fontAlgn="base" latinLnBrk="0"/>
                      <a:r>
                        <a:rPr lang="en-GB">
                          <a:effectLst/>
                        </a:rPr>
                        <a:t>Selects elements with attribute=value</a:t>
                      </a:r>
                    </a:p>
                  </a:txBody>
                  <a:tcPr anchor="ctr"/>
                </a:tc>
                <a:extLst>
                  <a:ext uri="{0D108BD9-81ED-4DB2-BD59-A6C34878D82A}">
                    <a16:rowId xmlns:a16="http://schemas.microsoft.com/office/drawing/2014/main" val="994192698"/>
                  </a:ext>
                </a:extLst>
              </a:tr>
              <a:tr h="692612">
                <a:tc>
                  <a:txBody>
                    <a:bodyPr/>
                    <a:lstStyle/>
                    <a:p>
                      <a:pPr fontAlgn="base" latinLnBrk="0"/>
                      <a:r>
                        <a:rPr lang="en-IN">
                          <a:effectLst/>
                        </a:rPr>
                        <a:t>Combinator</a:t>
                      </a:r>
                    </a:p>
                  </a:txBody>
                  <a:tcPr anchor="ctr"/>
                </a:tc>
                <a:tc>
                  <a:txBody>
                    <a:bodyPr/>
                    <a:lstStyle/>
                    <a:p>
                      <a:pPr fontAlgn="base" latinLnBrk="0"/>
                      <a:r>
                        <a:rPr lang="en-IN">
                          <a:effectLst/>
                        </a:rPr>
                        <a:t>ul &gt; li {}</a:t>
                      </a:r>
                    </a:p>
                  </a:txBody>
                  <a:tcPr anchor="ctr"/>
                </a:tc>
                <a:tc>
                  <a:txBody>
                    <a:bodyPr/>
                    <a:lstStyle/>
                    <a:p>
                      <a:pPr fontAlgn="base" latinLnBrk="0"/>
                      <a:r>
                        <a:rPr lang="en-IN">
                          <a:effectLst/>
                        </a:rPr>
                        <a:t>Selects specific relationships</a:t>
                      </a:r>
                    </a:p>
                  </a:txBody>
                  <a:tcPr anchor="ctr"/>
                </a:tc>
                <a:extLst>
                  <a:ext uri="{0D108BD9-81ED-4DB2-BD59-A6C34878D82A}">
                    <a16:rowId xmlns:a16="http://schemas.microsoft.com/office/drawing/2014/main" val="1721670237"/>
                  </a:ext>
                </a:extLst>
              </a:tr>
              <a:tr h="692612">
                <a:tc>
                  <a:txBody>
                    <a:bodyPr/>
                    <a:lstStyle/>
                    <a:p>
                      <a:pPr fontAlgn="base" latinLnBrk="0"/>
                      <a:r>
                        <a:rPr lang="en-IN" dirty="0">
                          <a:effectLst/>
                        </a:rPr>
                        <a:t>Pseudo-class</a:t>
                      </a:r>
                    </a:p>
                  </a:txBody>
                  <a:tcPr anchor="ctr"/>
                </a:tc>
                <a:tc>
                  <a:txBody>
                    <a:bodyPr/>
                    <a:lstStyle/>
                    <a:p>
                      <a:pPr fontAlgn="base" latinLnBrk="0"/>
                      <a:r>
                        <a:rPr lang="en-IN">
                          <a:effectLst/>
                        </a:rPr>
                        <a:t>a:hover {}</a:t>
                      </a:r>
                    </a:p>
                  </a:txBody>
                  <a:tcPr anchor="ctr"/>
                </a:tc>
                <a:tc>
                  <a:txBody>
                    <a:bodyPr/>
                    <a:lstStyle/>
                    <a:p>
                      <a:pPr fontAlgn="base" latinLnBrk="0"/>
                      <a:r>
                        <a:rPr lang="en-GB" dirty="0">
                          <a:effectLst/>
                        </a:rPr>
                        <a:t>Selects element in a user-triggered state</a:t>
                      </a:r>
                    </a:p>
                  </a:txBody>
                  <a:tcPr anchor="ctr"/>
                </a:tc>
                <a:extLst>
                  <a:ext uri="{0D108BD9-81ED-4DB2-BD59-A6C34878D82A}">
                    <a16:rowId xmlns:a16="http://schemas.microsoft.com/office/drawing/2014/main" val="342316298"/>
                  </a:ext>
                </a:extLst>
              </a:tr>
            </a:tbl>
          </a:graphicData>
        </a:graphic>
      </p:graphicFrame>
    </p:spTree>
    <p:extLst>
      <p:ext uri="{BB962C8B-B14F-4D97-AF65-F5344CB8AC3E}">
        <p14:creationId xmlns:p14="http://schemas.microsoft.com/office/powerpoint/2010/main" val="3557032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EEE3E70-16B6-8E8C-C739-2C2987E37FA2}"/>
              </a:ext>
              <a:ext uri="{C183D7F6-B498-43B3-948B-1728B52AA6E4}">
                <adec:decorative xmlns:adec="http://schemas.microsoft.com/office/drawing/2017/decorative" val="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66426"/>
          <a:stretch/>
        </p:blipFill>
        <p:spPr>
          <a:xfrm>
            <a:off x="0" y="0"/>
            <a:ext cx="12192000" cy="1387320"/>
          </a:xfrm>
          <a:prstGeom prst="rect">
            <a:avLst/>
          </a:prstGeom>
          <a:ln>
            <a:noFill/>
          </a:ln>
          <a:effectLst>
            <a:outerShdw blurRad="50800" dist="38100" dir="2700000" algn="tl" rotWithShape="0">
              <a:prstClr val="black">
                <a:alpha val="40000"/>
              </a:prstClr>
            </a:outerShdw>
          </a:effectLst>
        </p:spPr>
      </p:pic>
      <p:sp>
        <p:nvSpPr>
          <p:cNvPr id="18" name="TextBox 17">
            <a:extLst>
              <a:ext uri="{FF2B5EF4-FFF2-40B4-BE49-F238E27FC236}">
                <a16:creationId xmlns:a16="http://schemas.microsoft.com/office/drawing/2014/main" id="{2E2B85E6-D6FA-09BE-34FD-6EA044A13BF9}"/>
              </a:ext>
            </a:extLst>
          </p:cNvPr>
          <p:cNvSpPr txBox="1"/>
          <p:nvPr/>
        </p:nvSpPr>
        <p:spPr>
          <a:xfrm>
            <a:off x="224287" y="527043"/>
            <a:ext cx="11731924" cy="523220"/>
          </a:xfrm>
          <a:prstGeom prst="rect">
            <a:avLst/>
          </a:prstGeom>
          <a:noFill/>
        </p:spPr>
        <p:txBody>
          <a:bodyPr wrap="square">
            <a:spAutoFit/>
          </a:bodyPr>
          <a:lstStyle/>
          <a:p>
            <a:r>
              <a:rPr lang="en-GB" sz="2800" b="1" dirty="0">
                <a:solidFill>
                  <a:schemeClr val="bg1"/>
                </a:solidFill>
                <a:effectLst/>
                <a:latin typeface="Arial" panose="020B0604020202020204" pitchFamily="34" charset="0"/>
                <a:cs typeface="Arial" panose="020B0604020202020204" pitchFamily="34" charset="0"/>
              </a:rPr>
              <a:t>3.Discuss the CSS box model and its components.</a:t>
            </a:r>
            <a:endParaRPr lang="en-IN" sz="2800" b="1" dirty="0">
              <a:solidFill>
                <a:schemeClr val="bg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FE27F78-F5F9-22B6-BDA2-0E2C88D5609B}"/>
              </a:ext>
            </a:extLst>
          </p:cNvPr>
          <p:cNvSpPr txBox="1"/>
          <p:nvPr/>
        </p:nvSpPr>
        <p:spPr>
          <a:xfrm>
            <a:off x="284673" y="1536574"/>
            <a:ext cx="11671537" cy="923330"/>
          </a:xfrm>
          <a:prstGeom prst="rect">
            <a:avLst/>
          </a:prstGeom>
          <a:noFill/>
        </p:spPr>
        <p:txBody>
          <a:bodyPr wrap="square">
            <a:spAutoFit/>
          </a:bodyPr>
          <a:lstStyle/>
          <a:p>
            <a:pPr marL="285750" indent="-285750">
              <a:buFont typeface="Wingdings" panose="05000000000000000000" pitchFamily="2" charset="2"/>
              <a:buChar char="Ø"/>
            </a:pPr>
            <a:r>
              <a:rPr lang="en-GB" dirty="0">
                <a:latin typeface="Arial" panose="020B0604020202020204" pitchFamily="34" charset="0"/>
                <a:cs typeface="Arial" panose="020B0604020202020204" pitchFamily="34" charset="0"/>
              </a:rPr>
              <a:t>The CSS box model is a foundational concept in web design and layout. It describes how every HTML element is visually represented as a rectangular box, whose size and spacing are determined by four main components arranged from innermost to outermost:</a:t>
            </a:r>
            <a:endParaRPr lang="en-IN"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91554AD7-BA7F-A795-DCB2-0B505B54287E}"/>
              </a:ext>
            </a:extLst>
          </p:cNvPr>
          <p:cNvSpPr txBox="1"/>
          <p:nvPr/>
        </p:nvSpPr>
        <p:spPr>
          <a:xfrm>
            <a:off x="224287" y="2370272"/>
            <a:ext cx="8973501" cy="400110"/>
          </a:xfrm>
          <a:prstGeom prst="rect">
            <a:avLst/>
          </a:prstGeom>
          <a:noFill/>
        </p:spPr>
        <p:txBody>
          <a:bodyPr wrap="square">
            <a:spAutoFit/>
          </a:bodyPr>
          <a:lstStyle/>
          <a:p>
            <a:r>
              <a:rPr lang="en-IN" sz="2000" b="1" i="0" dirty="0">
                <a:effectLst/>
                <a:latin typeface="Arial" panose="020B0604020202020204" pitchFamily="34" charset="0"/>
                <a:cs typeface="Arial" panose="020B0604020202020204" pitchFamily="34" charset="0"/>
              </a:rPr>
              <a:t>Content</a:t>
            </a:r>
            <a:r>
              <a:rPr lang="en-IN" sz="2000" b="0" i="0" dirty="0">
                <a:effectLst/>
                <a:latin typeface="Arial" panose="020B0604020202020204" pitchFamily="34" charset="0"/>
                <a:cs typeface="Arial" panose="020B0604020202020204" pitchFamily="34" charset="0"/>
              </a:rPr>
              <a:t>:</a:t>
            </a:r>
            <a:endParaRPr lang="en-IN" sz="20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86A750D4-404E-41E2-42F3-6B0907D97EFD}"/>
              </a:ext>
            </a:extLst>
          </p:cNvPr>
          <p:cNvSpPr txBox="1"/>
          <p:nvPr/>
        </p:nvSpPr>
        <p:spPr>
          <a:xfrm>
            <a:off x="430302" y="2793869"/>
            <a:ext cx="11295530" cy="646331"/>
          </a:xfrm>
          <a:prstGeom prst="rect">
            <a:avLst/>
          </a:prstGeom>
          <a:noFill/>
        </p:spPr>
        <p:txBody>
          <a:bodyPr wrap="square">
            <a:spAutoFit/>
          </a:bodyPr>
          <a:lstStyle/>
          <a:p>
            <a:r>
              <a:rPr lang="en-GB" dirty="0">
                <a:latin typeface="Arial" panose="020B0604020202020204" pitchFamily="34" charset="0"/>
                <a:cs typeface="Arial" panose="020B0604020202020204" pitchFamily="34" charset="0"/>
              </a:rPr>
              <a:t>This is the innermost area, where the actual content (text, images, video, etc.) of the element appears.</a:t>
            </a:r>
          </a:p>
          <a:p>
            <a:r>
              <a:rPr lang="en-GB" dirty="0">
                <a:latin typeface="Arial" panose="020B0604020202020204" pitchFamily="34" charset="0"/>
                <a:cs typeface="Arial" panose="020B0604020202020204" pitchFamily="34" charset="0"/>
              </a:rPr>
              <a:t>Its size is defined by the width and height properties</a:t>
            </a:r>
            <a:endParaRPr lang="en-IN"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4F123F15-54DD-CCC6-2DC5-F621E1F59CC6}"/>
              </a:ext>
            </a:extLst>
          </p:cNvPr>
          <p:cNvSpPr txBox="1"/>
          <p:nvPr/>
        </p:nvSpPr>
        <p:spPr>
          <a:xfrm>
            <a:off x="224287" y="3359980"/>
            <a:ext cx="6305606" cy="400110"/>
          </a:xfrm>
          <a:prstGeom prst="rect">
            <a:avLst/>
          </a:prstGeom>
          <a:noFill/>
        </p:spPr>
        <p:txBody>
          <a:bodyPr wrap="square">
            <a:spAutoFit/>
          </a:bodyPr>
          <a:lstStyle/>
          <a:p>
            <a:r>
              <a:rPr lang="en-IN" sz="2000" b="1" i="0" dirty="0">
                <a:effectLst/>
                <a:latin typeface="Arial" panose="020B0604020202020204" pitchFamily="34" charset="0"/>
                <a:cs typeface="Arial" panose="020B0604020202020204" pitchFamily="34" charset="0"/>
              </a:rPr>
              <a:t>Padding</a:t>
            </a:r>
            <a:r>
              <a:rPr lang="en-IN" sz="2000" b="0" i="0" dirty="0">
                <a:effectLst/>
                <a:latin typeface="Arial" panose="020B0604020202020204" pitchFamily="34" charset="0"/>
                <a:cs typeface="Arial" panose="020B0604020202020204" pitchFamily="34" charset="0"/>
              </a:rPr>
              <a:t>:</a:t>
            </a:r>
            <a:endParaRPr lang="en-IN" sz="2000"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CAF3B91F-8725-010A-0CEA-A95577100595}"/>
              </a:ext>
            </a:extLst>
          </p:cNvPr>
          <p:cNvSpPr txBox="1"/>
          <p:nvPr/>
        </p:nvSpPr>
        <p:spPr>
          <a:xfrm>
            <a:off x="430302" y="3754008"/>
            <a:ext cx="11525907" cy="923330"/>
          </a:xfrm>
          <a:prstGeom prst="rect">
            <a:avLst/>
          </a:prstGeom>
          <a:noFill/>
        </p:spPr>
        <p:txBody>
          <a:bodyPr wrap="square">
            <a:spAutoFit/>
          </a:bodyPr>
          <a:lstStyle/>
          <a:p>
            <a:r>
              <a:rPr lang="en-GB" dirty="0">
                <a:latin typeface="Arial" panose="020B0604020202020204" pitchFamily="34" charset="0"/>
                <a:cs typeface="Arial" panose="020B0604020202020204" pitchFamily="34" charset="0"/>
              </a:rPr>
              <a:t>Padding is the transparent space between the content and the element's border.</a:t>
            </a:r>
          </a:p>
          <a:p>
            <a:r>
              <a:rPr lang="en-GB" dirty="0">
                <a:latin typeface="Arial" panose="020B0604020202020204" pitchFamily="34" charset="0"/>
                <a:cs typeface="Arial" panose="020B0604020202020204" pitchFamily="34" charset="0"/>
              </a:rPr>
              <a:t>It increases the distance between the content and the border and is controlled with padding-related properties (e.g., padding, padding-top).</a:t>
            </a:r>
            <a:endParaRPr lang="en-IN"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7BE19211-5A96-CAC6-5AF6-927DADEAFA9B}"/>
              </a:ext>
            </a:extLst>
          </p:cNvPr>
          <p:cNvSpPr txBox="1"/>
          <p:nvPr/>
        </p:nvSpPr>
        <p:spPr>
          <a:xfrm>
            <a:off x="284673" y="4672410"/>
            <a:ext cx="6223698" cy="400110"/>
          </a:xfrm>
          <a:prstGeom prst="rect">
            <a:avLst/>
          </a:prstGeom>
          <a:noFill/>
        </p:spPr>
        <p:txBody>
          <a:bodyPr wrap="square">
            <a:spAutoFit/>
          </a:bodyPr>
          <a:lstStyle/>
          <a:p>
            <a:r>
              <a:rPr lang="en-IN" sz="2000" b="1" i="0" dirty="0">
                <a:effectLst/>
                <a:latin typeface="Arial" panose="020B0604020202020204" pitchFamily="34" charset="0"/>
                <a:cs typeface="Arial" panose="020B0604020202020204" pitchFamily="34" charset="0"/>
              </a:rPr>
              <a:t>Border</a:t>
            </a:r>
            <a:r>
              <a:rPr lang="en-IN" sz="2000" b="0" i="0" dirty="0">
                <a:effectLst/>
                <a:latin typeface="Arial" panose="020B0604020202020204" pitchFamily="34" charset="0"/>
                <a:cs typeface="Arial" panose="020B0604020202020204" pitchFamily="34" charset="0"/>
              </a:rPr>
              <a:t>:</a:t>
            </a:r>
            <a:endParaRPr lang="en-IN" sz="20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BA49AE47-218A-6B86-7828-1D96FC117294}"/>
              </a:ext>
            </a:extLst>
          </p:cNvPr>
          <p:cNvSpPr txBox="1"/>
          <p:nvPr/>
        </p:nvSpPr>
        <p:spPr>
          <a:xfrm>
            <a:off x="430302" y="5031464"/>
            <a:ext cx="11080380" cy="646331"/>
          </a:xfrm>
          <a:prstGeom prst="rect">
            <a:avLst/>
          </a:prstGeom>
          <a:noFill/>
        </p:spPr>
        <p:txBody>
          <a:bodyPr wrap="square">
            <a:spAutoFit/>
          </a:bodyPr>
          <a:lstStyle/>
          <a:p>
            <a:r>
              <a:rPr lang="en-GB" dirty="0">
                <a:latin typeface="Arial" panose="020B0604020202020204" pitchFamily="34" charset="0"/>
                <a:cs typeface="Arial" panose="020B0604020202020204" pitchFamily="34" charset="0"/>
              </a:rPr>
              <a:t>The border wraps around both the content and the padding.</a:t>
            </a:r>
          </a:p>
          <a:p>
            <a:r>
              <a:rPr lang="en-GB" dirty="0">
                <a:latin typeface="Arial" panose="020B0604020202020204" pitchFamily="34" charset="0"/>
                <a:cs typeface="Arial" panose="020B0604020202020204" pitchFamily="34" charset="0"/>
              </a:rPr>
              <a:t>Its thickness, style, and </a:t>
            </a:r>
            <a:r>
              <a:rPr lang="en-GB" dirty="0" err="1">
                <a:latin typeface="Arial" panose="020B0604020202020204" pitchFamily="34" charset="0"/>
                <a:cs typeface="Arial" panose="020B0604020202020204" pitchFamily="34" charset="0"/>
              </a:rPr>
              <a:t>color</a:t>
            </a:r>
            <a:r>
              <a:rPr lang="en-GB" dirty="0">
                <a:latin typeface="Arial" panose="020B0604020202020204" pitchFamily="34" charset="0"/>
                <a:cs typeface="Arial" panose="020B0604020202020204" pitchFamily="34" charset="0"/>
              </a:rPr>
              <a:t> are controlled by border properties (e.g., border-width, border-style).</a:t>
            </a:r>
            <a:endParaRPr lang="en-IN"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54E0925D-F6A0-8D33-E0B7-ACBE30A80317}"/>
              </a:ext>
            </a:extLst>
          </p:cNvPr>
          <p:cNvSpPr txBox="1"/>
          <p:nvPr/>
        </p:nvSpPr>
        <p:spPr>
          <a:xfrm>
            <a:off x="224287" y="5769682"/>
            <a:ext cx="11652156" cy="400110"/>
          </a:xfrm>
          <a:prstGeom prst="rect">
            <a:avLst/>
          </a:prstGeom>
          <a:noFill/>
        </p:spPr>
        <p:txBody>
          <a:bodyPr wrap="square">
            <a:spAutoFit/>
          </a:bodyPr>
          <a:lstStyle/>
          <a:p>
            <a:r>
              <a:rPr lang="en-IN" sz="2000" b="1" dirty="0">
                <a:latin typeface="Arial" panose="020B0604020202020204" pitchFamily="34" charset="0"/>
                <a:cs typeface="Arial" panose="020B0604020202020204" pitchFamily="34" charset="0"/>
              </a:rPr>
              <a:t>Margin:</a:t>
            </a:r>
          </a:p>
        </p:txBody>
      </p:sp>
      <p:sp>
        <p:nvSpPr>
          <p:cNvPr id="24" name="TextBox 23">
            <a:extLst>
              <a:ext uri="{FF2B5EF4-FFF2-40B4-BE49-F238E27FC236}">
                <a16:creationId xmlns:a16="http://schemas.microsoft.com/office/drawing/2014/main" id="{77AC5A6A-DF5E-DD13-0E6D-CF404803F58E}"/>
              </a:ext>
            </a:extLst>
          </p:cNvPr>
          <p:cNvSpPr txBox="1"/>
          <p:nvPr/>
        </p:nvSpPr>
        <p:spPr>
          <a:xfrm>
            <a:off x="430302" y="6119338"/>
            <a:ext cx="11525907" cy="646331"/>
          </a:xfrm>
          <a:prstGeom prst="rect">
            <a:avLst/>
          </a:prstGeom>
          <a:noFill/>
        </p:spPr>
        <p:txBody>
          <a:bodyPr wrap="square">
            <a:spAutoFit/>
          </a:bodyPr>
          <a:lstStyle/>
          <a:p>
            <a:r>
              <a:rPr lang="en-GB" dirty="0">
                <a:latin typeface="Arial" panose="020B0604020202020204" pitchFamily="34" charset="0"/>
                <a:cs typeface="Arial" panose="020B0604020202020204" pitchFamily="34" charset="0"/>
              </a:rPr>
              <a:t>The margin is the outermost layer, providing transparent space outside the border.</a:t>
            </a:r>
          </a:p>
          <a:p>
            <a:r>
              <a:rPr lang="en-GB" dirty="0">
                <a:latin typeface="Arial" panose="020B0604020202020204" pitchFamily="34" charset="0"/>
                <a:cs typeface="Arial" panose="020B0604020202020204" pitchFamily="34" charset="0"/>
              </a:rPr>
              <a:t>Margin separates the element from adjacent elements and its size is controlled by margin-related properties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40468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3C095FD5-7233-480E-1AAE-C512707397FD}"/>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b="66426"/>
          <a:stretch/>
        </p:blipFill>
        <p:spPr>
          <a:xfrm>
            <a:off x="0" y="0"/>
            <a:ext cx="12192000" cy="1387320"/>
          </a:xfrm>
          <a:prstGeom prst="rect">
            <a:avLst/>
          </a:prstGeom>
          <a:ln>
            <a:noFill/>
          </a:ln>
          <a:effectLst>
            <a:outerShdw blurRad="50800" dist="38100" dir="2700000" algn="tl" rotWithShape="0">
              <a:prstClr val="black">
                <a:alpha val="40000"/>
              </a:prstClr>
            </a:outerShdw>
          </a:effectLst>
        </p:spPr>
      </p:pic>
      <p:sp>
        <p:nvSpPr>
          <p:cNvPr id="4" name="TextBox 3">
            <a:extLst>
              <a:ext uri="{FF2B5EF4-FFF2-40B4-BE49-F238E27FC236}">
                <a16:creationId xmlns:a16="http://schemas.microsoft.com/office/drawing/2014/main" id="{59D82D8C-83C2-BE53-7410-71CE68AB89CA}"/>
              </a:ext>
            </a:extLst>
          </p:cNvPr>
          <p:cNvSpPr txBox="1"/>
          <p:nvPr/>
        </p:nvSpPr>
        <p:spPr>
          <a:xfrm>
            <a:off x="178131" y="484366"/>
            <a:ext cx="11804072" cy="461665"/>
          </a:xfrm>
          <a:prstGeom prst="rect">
            <a:avLst/>
          </a:prstGeom>
          <a:noFill/>
        </p:spPr>
        <p:txBody>
          <a:bodyPr wrap="square">
            <a:spAutoFit/>
          </a:bodyPr>
          <a:lstStyle/>
          <a:p>
            <a:pPr marL="457200" indent="-457200">
              <a:buFont typeface="+mj-lt"/>
              <a:buAutoNum type="arabicPeriod"/>
            </a:pPr>
            <a:r>
              <a:rPr lang="en-GB" sz="2400" b="1" dirty="0">
                <a:solidFill>
                  <a:schemeClr val="bg1"/>
                </a:solidFill>
                <a:latin typeface="Arial" panose="020B0604020202020204" pitchFamily="34" charset="0"/>
                <a:cs typeface="Arial" panose="020B0604020202020204" pitchFamily="34" charset="0"/>
              </a:rPr>
              <a:t>Define responsive design and its importance in modern web development.</a:t>
            </a:r>
            <a:endParaRPr lang="en-IN" sz="2400" b="1" dirty="0">
              <a:solidFill>
                <a:schemeClr val="bg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4ED729EA-C4CE-1472-C4D0-85DBD346E3F8}"/>
              </a:ext>
            </a:extLst>
          </p:cNvPr>
          <p:cNvSpPr txBox="1"/>
          <p:nvPr/>
        </p:nvSpPr>
        <p:spPr>
          <a:xfrm>
            <a:off x="178131" y="1646351"/>
            <a:ext cx="11804072" cy="1231106"/>
          </a:xfrm>
          <a:prstGeom prst="rect">
            <a:avLst/>
          </a:prstGeom>
          <a:noFill/>
        </p:spPr>
        <p:txBody>
          <a:bodyPr wrap="square">
            <a:spAutoFit/>
          </a:bodyPr>
          <a:lstStyle/>
          <a:p>
            <a:pPr algn="just"/>
            <a:r>
              <a:rPr lang="en-GB" sz="2000" b="1" dirty="0">
                <a:latin typeface="Arial" panose="020B0604020202020204" pitchFamily="34" charset="0"/>
                <a:cs typeface="Arial" panose="020B0604020202020204" pitchFamily="34" charset="0"/>
              </a:rPr>
              <a:t>Responsive design </a:t>
            </a:r>
            <a:r>
              <a:rPr lang="en-GB" dirty="0">
                <a:latin typeface="Arial" panose="020B0604020202020204" pitchFamily="34" charset="0"/>
                <a:cs typeface="Arial" panose="020B0604020202020204" pitchFamily="34" charset="0"/>
              </a:rPr>
              <a:t>is an approach to web development where a website’s layout and elements automatically adapt to different screen sizes, orientations, and devices (desktops, tablets, smartphones). Instead of creating separate versions of a site for each device, a single responsive design ensures the site looks good and functions properly everywhere.</a:t>
            </a:r>
            <a:endParaRPr lang="en-IN"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312CEEF8-6BA0-CD03-272A-B2FF96F2E24B}"/>
              </a:ext>
            </a:extLst>
          </p:cNvPr>
          <p:cNvSpPr txBox="1"/>
          <p:nvPr/>
        </p:nvSpPr>
        <p:spPr>
          <a:xfrm>
            <a:off x="178131" y="3039489"/>
            <a:ext cx="11804072" cy="369332"/>
          </a:xfrm>
          <a:prstGeom prst="rect">
            <a:avLst/>
          </a:prstGeom>
          <a:noFill/>
        </p:spPr>
        <p:txBody>
          <a:bodyPr wrap="square">
            <a:spAutoFit/>
          </a:bodyPr>
          <a:lstStyle/>
          <a:p>
            <a:pPr marL="285750" indent="-285750">
              <a:buFont typeface="Wingdings" panose="05000000000000000000" pitchFamily="2" charset="2"/>
              <a:buChar char="q"/>
            </a:pPr>
            <a:r>
              <a:rPr lang="en-GB" b="1" dirty="0">
                <a:latin typeface="Arial" panose="020B0604020202020204" pitchFamily="34" charset="0"/>
                <a:cs typeface="Arial" panose="020B0604020202020204" pitchFamily="34" charset="0"/>
              </a:rPr>
              <a:t>Key aspects of responsive design:</a:t>
            </a:r>
            <a:endParaRPr lang="en-IN" b="1"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BAC875FF-E7D6-1FFF-1803-E104DF4663F8}"/>
              </a:ext>
            </a:extLst>
          </p:cNvPr>
          <p:cNvSpPr txBox="1"/>
          <p:nvPr/>
        </p:nvSpPr>
        <p:spPr>
          <a:xfrm>
            <a:off x="178131" y="3495027"/>
            <a:ext cx="11720944" cy="1754326"/>
          </a:xfrm>
          <a:prstGeom prst="rect">
            <a:avLst/>
          </a:prstGeom>
          <a:noFill/>
        </p:spPr>
        <p:txBody>
          <a:bodyPr wrap="square" spcCol="540000">
            <a:spAutoFit/>
          </a:bodyPr>
          <a:lstStyle/>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Fluid layouts: Using percentages or flexible units (like </a:t>
            </a:r>
            <a:r>
              <a:rPr lang="en-IN" dirty="0" err="1">
                <a:latin typeface="Arial" panose="020B0604020202020204" pitchFamily="34" charset="0"/>
                <a:cs typeface="Arial" panose="020B0604020202020204" pitchFamily="34" charset="0"/>
              </a:rPr>
              <a:t>em</a:t>
            </a:r>
            <a:r>
              <a:rPr lang="en-IN" dirty="0">
                <a:latin typeface="Arial" panose="020B0604020202020204" pitchFamily="34" charset="0"/>
                <a:cs typeface="Arial" panose="020B0604020202020204" pitchFamily="34" charset="0"/>
              </a:rPr>
              <a:t>, rem, </a:t>
            </a:r>
            <a:r>
              <a:rPr lang="en-IN" dirty="0" err="1">
                <a:latin typeface="Arial" panose="020B0604020202020204" pitchFamily="34" charset="0"/>
                <a:cs typeface="Arial" panose="020B0604020202020204" pitchFamily="34" charset="0"/>
              </a:rPr>
              <a:t>vh</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vw</a:t>
            </a:r>
            <a:r>
              <a:rPr lang="en-IN" dirty="0">
                <a:latin typeface="Arial" panose="020B0604020202020204" pitchFamily="34" charset="0"/>
                <a:cs typeface="Arial" panose="020B0604020202020204" pitchFamily="34" charset="0"/>
              </a:rPr>
              <a:t>) instead of fixed pixel values so elements resize naturally.</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Media queries: CSS rules that adjust styles based on device width, height, or resolution.</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Flexible images and media: Ensuring images and videos resize proportionally and don’t overflow their containers.</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Mobile-first approach: Designing for smaller screens first, then enhancing the layout for larger screens.</a:t>
            </a:r>
          </a:p>
        </p:txBody>
      </p:sp>
      <p:sp>
        <p:nvSpPr>
          <p:cNvPr id="12" name="TextBox 11">
            <a:extLst>
              <a:ext uri="{FF2B5EF4-FFF2-40B4-BE49-F238E27FC236}">
                <a16:creationId xmlns:a16="http://schemas.microsoft.com/office/drawing/2014/main" id="{7A950154-7C84-92F8-88CB-B0047EE555A4}"/>
              </a:ext>
            </a:extLst>
          </p:cNvPr>
          <p:cNvSpPr txBox="1"/>
          <p:nvPr/>
        </p:nvSpPr>
        <p:spPr>
          <a:xfrm>
            <a:off x="178131" y="5426425"/>
            <a:ext cx="11720944" cy="369332"/>
          </a:xfrm>
          <a:prstGeom prst="rect">
            <a:avLst/>
          </a:prstGeom>
          <a:noFill/>
        </p:spPr>
        <p:txBody>
          <a:bodyPr wrap="square">
            <a:spAutoFit/>
          </a:bodyPr>
          <a:lstStyle/>
          <a:p>
            <a:pPr marL="285750" indent="-285750">
              <a:buFont typeface="Wingdings" panose="05000000000000000000" pitchFamily="2" charset="2"/>
              <a:buChar char="q"/>
            </a:pPr>
            <a:r>
              <a:rPr lang="en-GB" b="1">
                <a:latin typeface="Arial" panose="020B0604020202020204" pitchFamily="34" charset="0"/>
                <a:cs typeface="Arial" panose="020B0604020202020204" pitchFamily="34" charset="0"/>
              </a:rPr>
              <a:t>Importance in modern web development</a:t>
            </a:r>
            <a:r>
              <a:rPr lang="en-GB">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3BFE1A18-23C6-8335-5EC4-DC1A073A2E84}"/>
              </a:ext>
            </a:extLst>
          </p:cNvPr>
          <p:cNvSpPr txBox="1"/>
          <p:nvPr/>
        </p:nvSpPr>
        <p:spPr>
          <a:xfrm>
            <a:off x="178131" y="5956945"/>
            <a:ext cx="11720943" cy="646331"/>
          </a:xfrm>
          <a:prstGeom prst="rect">
            <a:avLst/>
          </a:prstGeom>
          <a:noFill/>
        </p:spPr>
        <p:txBody>
          <a:bodyPr wrap="square">
            <a:spAutoFit/>
          </a:bodyPr>
          <a:lstStyle/>
          <a:p>
            <a:pPr marL="342900" indent="-342900">
              <a:buFont typeface="+mj-lt"/>
              <a:buAutoNum type="arabicPeriod"/>
            </a:pPr>
            <a:r>
              <a:rPr lang="en-GB" b="1" dirty="0">
                <a:latin typeface="Arial" panose="020B0604020202020204" pitchFamily="34" charset="0"/>
                <a:cs typeface="Arial" panose="020B0604020202020204" pitchFamily="34" charset="0"/>
              </a:rPr>
              <a:t>Improved user experience (UX):</a:t>
            </a:r>
            <a:r>
              <a:rPr lang="en-GB" dirty="0">
                <a:latin typeface="Arial" panose="020B0604020202020204" pitchFamily="34" charset="0"/>
                <a:cs typeface="Arial" panose="020B0604020202020204" pitchFamily="34" charset="0"/>
              </a:rPr>
              <a:t> Users can comfortably view and interact with the site on any device without zooming or scrolling horizontally.</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97867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826876-7C3C-E237-71A2-F7969C120022}"/>
              </a:ext>
            </a:extLst>
          </p:cNvPr>
          <p:cNvSpPr txBox="1"/>
          <p:nvPr/>
        </p:nvSpPr>
        <p:spPr>
          <a:xfrm>
            <a:off x="237507" y="1327514"/>
            <a:ext cx="11661567" cy="369332"/>
          </a:xfrm>
          <a:prstGeom prst="rect">
            <a:avLst/>
          </a:prstGeom>
          <a:noFill/>
        </p:spPr>
        <p:txBody>
          <a:bodyPr wrap="square">
            <a:spAutoFit/>
          </a:bodyPr>
          <a:lstStyle/>
          <a:p>
            <a:pPr marL="342900" indent="-342900">
              <a:buFont typeface="+mj-lt"/>
              <a:buAutoNum type="arabicPeriod" startAt="4"/>
            </a:pPr>
            <a:r>
              <a:rPr lang="en-GB" dirty="0">
                <a:latin typeface="Arial" panose="020B0604020202020204" pitchFamily="34" charset="0"/>
                <a:cs typeface="Arial" panose="020B0604020202020204" pitchFamily="34" charset="0"/>
              </a:rPr>
              <a:t>Better SEO rankings: Google prioritizes mobile-friendly, responsive websites in its search results.</a:t>
            </a:r>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66DDC235-C32B-1CB7-4B88-7C60E50BBBFA}"/>
              </a:ext>
            </a:extLst>
          </p:cNvPr>
          <p:cNvSpPr txBox="1"/>
          <p:nvPr/>
        </p:nvSpPr>
        <p:spPr>
          <a:xfrm>
            <a:off x="237507" y="1743153"/>
            <a:ext cx="11661567" cy="369332"/>
          </a:xfrm>
          <a:prstGeom prst="rect">
            <a:avLst/>
          </a:prstGeom>
          <a:noFill/>
        </p:spPr>
        <p:txBody>
          <a:bodyPr wrap="square">
            <a:spAutoFit/>
          </a:bodyPr>
          <a:lstStyle/>
          <a:p>
            <a:pPr marL="342900" indent="-342900">
              <a:buFont typeface="+mj-lt"/>
              <a:buAutoNum type="arabicPeriod" startAt="5"/>
            </a:pPr>
            <a:r>
              <a:rPr lang="en-GB" dirty="0">
                <a:latin typeface="Arial" panose="020B0604020202020204" pitchFamily="34" charset="0"/>
                <a:cs typeface="Arial" panose="020B0604020202020204" pitchFamily="34" charset="0"/>
              </a:rPr>
              <a:t>Cost and time efficiency: One site works everywhere — no need for separate mobile and desktop versions.</a:t>
            </a:r>
            <a:endParaRPr lang="en-IN"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DDD86750-ACEA-A95A-78BE-A9ED25BF7FBB}"/>
              </a:ext>
            </a:extLst>
          </p:cNvPr>
          <p:cNvSpPr txBox="1"/>
          <p:nvPr/>
        </p:nvSpPr>
        <p:spPr>
          <a:xfrm>
            <a:off x="237507" y="864371"/>
            <a:ext cx="11661568" cy="369332"/>
          </a:xfrm>
          <a:prstGeom prst="rect">
            <a:avLst/>
          </a:prstGeom>
          <a:noFill/>
        </p:spPr>
        <p:txBody>
          <a:bodyPr wrap="square">
            <a:spAutoFit/>
          </a:bodyPr>
          <a:lstStyle/>
          <a:p>
            <a:pPr marL="342900" indent="-342900">
              <a:buFont typeface="+mj-lt"/>
              <a:buAutoNum type="arabicPeriod" startAt="3"/>
            </a:pPr>
            <a:r>
              <a:rPr lang="en-GB" dirty="0">
                <a:latin typeface="Arial" panose="020B0604020202020204" pitchFamily="34" charset="0"/>
                <a:cs typeface="Arial" panose="020B0604020202020204" pitchFamily="34" charset="0"/>
              </a:rPr>
              <a:t>Future-proofing: Responsive designs automatically adapt to new devices and screen sizes.</a:t>
            </a:r>
            <a:endParaRPr lang="en-IN"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8269D5B7-DE87-EEDC-86EA-B4DA752BFC9D}"/>
              </a:ext>
            </a:extLst>
          </p:cNvPr>
          <p:cNvSpPr txBox="1"/>
          <p:nvPr/>
        </p:nvSpPr>
        <p:spPr>
          <a:xfrm>
            <a:off x="237507" y="215234"/>
            <a:ext cx="11661568" cy="646331"/>
          </a:xfrm>
          <a:prstGeom prst="rect">
            <a:avLst/>
          </a:prstGeom>
          <a:noFill/>
        </p:spPr>
        <p:txBody>
          <a:bodyPr wrap="square">
            <a:spAutoFit/>
          </a:bodyPr>
          <a:lstStyle/>
          <a:p>
            <a:pPr marL="342900" indent="-342900">
              <a:buFont typeface="+mj-lt"/>
              <a:buAutoNum type="arabicPeriod" startAt="2"/>
            </a:pPr>
            <a:r>
              <a:rPr lang="en-GB" dirty="0">
                <a:latin typeface="Arial" panose="020B0604020202020204" pitchFamily="34" charset="0"/>
                <a:cs typeface="Arial" panose="020B0604020202020204" pitchFamily="34" charset="0"/>
              </a:rPr>
              <a:t>Higher engagement and conversions: Visitors are more likely to stay longer and complete actions (like purchases or sign-ups) if the site works seamlessly.</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9922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EC397E6D-021F-91B3-18BB-B7BEADBA54C4}"/>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b="66426"/>
          <a:stretch/>
        </p:blipFill>
        <p:spPr>
          <a:xfrm>
            <a:off x="0" y="0"/>
            <a:ext cx="12192000" cy="1387320"/>
          </a:xfrm>
          <a:prstGeom prst="rect">
            <a:avLst/>
          </a:prstGeom>
          <a:ln>
            <a:noFill/>
          </a:ln>
          <a:effectLst>
            <a:outerShdw blurRad="50800" dist="38100" dir="2700000" algn="tl" rotWithShape="0">
              <a:prstClr val="black">
                <a:alpha val="40000"/>
              </a:prstClr>
            </a:outerShdw>
          </a:effectLst>
        </p:spPr>
      </p:pic>
      <p:sp>
        <p:nvSpPr>
          <p:cNvPr id="4" name="TextBox 3">
            <a:extLst>
              <a:ext uri="{FF2B5EF4-FFF2-40B4-BE49-F238E27FC236}">
                <a16:creationId xmlns:a16="http://schemas.microsoft.com/office/drawing/2014/main" id="{D532AADD-0BB3-BA69-5E3F-15089A9D6338}"/>
              </a:ext>
            </a:extLst>
          </p:cNvPr>
          <p:cNvSpPr txBox="1"/>
          <p:nvPr/>
        </p:nvSpPr>
        <p:spPr>
          <a:xfrm>
            <a:off x="201881" y="456598"/>
            <a:ext cx="11792197" cy="461665"/>
          </a:xfrm>
          <a:prstGeom prst="rect">
            <a:avLst/>
          </a:prstGeom>
          <a:noFill/>
        </p:spPr>
        <p:txBody>
          <a:bodyPr wrap="square">
            <a:spAutoFit/>
          </a:bodyPr>
          <a:lstStyle/>
          <a:p>
            <a:pPr marL="342900" indent="-342900">
              <a:buFont typeface="+mj-lt"/>
              <a:buAutoNum type="arabicPeriod" startAt="2"/>
            </a:pPr>
            <a:r>
              <a:rPr lang="en-GB" sz="2400" b="1" dirty="0">
                <a:solidFill>
                  <a:schemeClr val="bg1"/>
                </a:solidFill>
                <a:latin typeface="Arial" panose="020B0604020202020204" pitchFamily="34" charset="0"/>
                <a:cs typeface="Arial" panose="020B0604020202020204" pitchFamily="34" charset="0"/>
              </a:rPr>
              <a:t>Explain the role of media queries in responsive design.</a:t>
            </a:r>
            <a:endParaRPr lang="en-IN" sz="2400" b="1" dirty="0">
              <a:solidFill>
                <a:schemeClr val="bg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71B6CDBF-3812-60F1-3E92-49B31B83EB94}"/>
              </a:ext>
            </a:extLst>
          </p:cNvPr>
          <p:cNvSpPr txBox="1"/>
          <p:nvPr/>
        </p:nvSpPr>
        <p:spPr>
          <a:xfrm>
            <a:off x="201881" y="1436450"/>
            <a:ext cx="11697194" cy="923330"/>
          </a:xfrm>
          <a:prstGeom prst="rect">
            <a:avLst/>
          </a:prstGeom>
          <a:noFill/>
        </p:spPr>
        <p:txBody>
          <a:bodyPr wrap="square">
            <a:spAutoFit/>
          </a:bodyPr>
          <a:lstStyle/>
          <a:p>
            <a:pPr marL="285750" indent="-285750" algn="just">
              <a:buFont typeface="Wingdings" panose="05000000000000000000" pitchFamily="2" charset="2"/>
              <a:buChar char="Ø"/>
            </a:pPr>
            <a:r>
              <a:rPr lang="en-GB" b="1" dirty="0">
                <a:latin typeface="Arial" panose="020B0604020202020204" pitchFamily="34" charset="0"/>
                <a:cs typeface="Arial" panose="020B0604020202020204" pitchFamily="34" charset="0"/>
              </a:rPr>
              <a:t>Media queries</a:t>
            </a:r>
            <a:r>
              <a:rPr lang="en-GB" dirty="0">
                <a:latin typeface="Arial" panose="020B0604020202020204" pitchFamily="34" charset="0"/>
                <a:cs typeface="Arial" panose="020B0604020202020204" pitchFamily="34" charset="0"/>
              </a:rPr>
              <a:t> are CSS rules that let a webpage adapt its layout, design, and </a:t>
            </a:r>
            <a:r>
              <a:rPr lang="en-GB" dirty="0" err="1">
                <a:latin typeface="Arial" panose="020B0604020202020204" pitchFamily="34" charset="0"/>
                <a:cs typeface="Arial" panose="020B0604020202020204" pitchFamily="34" charset="0"/>
              </a:rPr>
              <a:t>behavior</a:t>
            </a:r>
            <a:r>
              <a:rPr lang="en-GB" dirty="0">
                <a:latin typeface="Arial" panose="020B0604020202020204" pitchFamily="34" charset="0"/>
                <a:cs typeface="Arial" panose="020B0604020202020204" pitchFamily="34" charset="0"/>
              </a:rPr>
              <a:t> to different device characteristics such as screen size, resolution, or orientation. They are the </a:t>
            </a:r>
            <a:r>
              <a:rPr lang="en-GB" i="1" dirty="0">
                <a:latin typeface="Arial" panose="020B0604020202020204" pitchFamily="34" charset="0"/>
                <a:cs typeface="Arial" panose="020B0604020202020204" pitchFamily="34" charset="0"/>
              </a:rPr>
              <a:t>core tool</a:t>
            </a:r>
            <a:r>
              <a:rPr lang="en-GB" dirty="0">
                <a:latin typeface="Arial" panose="020B0604020202020204" pitchFamily="34" charset="0"/>
                <a:cs typeface="Arial" panose="020B0604020202020204" pitchFamily="34" charset="0"/>
              </a:rPr>
              <a:t> used to implement responsive design.</a:t>
            </a:r>
            <a:endParaRPr lang="en-IN"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D23441AC-8DF5-27FD-084A-803B7318EC79}"/>
              </a:ext>
            </a:extLst>
          </p:cNvPr>
          <p:cNvSpPr txBox="1"/>
          <p:nvPr/>
        </p:nvSpPr>
        <p:spPr>
          <a:xfrm>
            <a:off x="130633" y="2528847"/>
            <a:ext cx="8915400" cy="400110"/>
          </a:xfrm>
          <a:prstGeom prst="rect">
            <a:avLst/>
          </a:prstGeom>
          <a:noFill/>
        </p:spPr>
        <p:txBody>
          <a:bodyPr wrap="square">
            <a:spAutoFit/>
          </a:bodyPr>
          <a:lstStyle/>
          <a:p>
            <a:pPr marL="342900" indent="-342900">
              <a:buFont typeface="Wingdings" panose="05000000000000000000" pitchFamily="2" charset="2"/>
              <a:buChar char="q"/>
            </a:pPr>
            <a:r>
              <a:rPr lang="en-IN" sz="2000" b="1" dirty="0">
                <a:latin typeface="Arial" panose="020B0604020202020204" pitchFamily="34" charset="0"/>
                <a:cs typeface="Arial" panose="020B0604020202020204" pitchFamily="34" charset="0"/>
              </a:rPr>
              <a:t>What media queries do.</a:t>
            </a:r>
          </a:p>
        </p:txBody>
      </p:sp>
      <p:sp>
        <p:nvSpPr>
          <p:cNvPr id="10" name="TextBox 9">
            <a:extLst>
              <a:ext uri="{FF2B5EF4-FFF2-40B4-BE49-F238E27FC236}">
                <a16:creationId xmlns:a16="http://schemas.microsoft.com/office/drawing/2014/main" id="{A4BDCA09-A949-18F4-9099-58B3EAB9DE6A}"/>
              </a:ext>
            </a:extLst>
          </p:cNvPr>
          <p:cNvSpPr txBox="1"/>
          <p:nvPr/>
        </p:nvSpPr>
        <p:spPr>
          <a:xfrm>
            <a:off x="285007" y="2980253"/>
            <a:ext cx="11614067" cy="923330"/>
          </a:xfrm>
          <a:prstGeom prst="rect">
            <a:avLst/>
          </a:prstGeom>
          <a:noFill/>
        </p:spPr>
        <p:txBody>
          <a:bodyPr wrap="square">
            <a:spAutoFit/>
          </a:bodyPr>
          <a:lstStyle/>
          <a:p>
            <a:pPr marL="285750" indent="-285750" algn="just">
              <a:buFont typeface="Arial" panose="020B0604020202020204" pitchFamily="34" charset="0"/>
              <a:buChar char="•"/>
            </a:pPr>
            <a:r>
              <a:rPr lang="en-GB" dirty="0">
                <a:latin typeface="Arial" panose="020B0604020202020204" pitchFamily="34" charset="0"/>
                <a:cs typeface="Arial" panose="020B0604020202020204" pitchFamily="34" charset="0"/>
              </a:rPr>
              <a:t>They apply different CSS styles only when certain conditions (like screen width) are met.</a:t>
            </a:r>
          </a:p>
          <a:p>
            <a:pPr marL="285750" indent="-285750" algn="just">
              <a:buFont typeface="Arial" panose="020B0604020202020204" pitchFamily="34" charset="0"/>
              <a:buChar char="•"/>
            </a:pPr>
            <a:r>
              <a:rPr lang="en-GB" dirty="0">
                <a:latin typeface="Arial" panose="020B0604020202020204" pitchFamily="34" charset="0"/>
                <a:cs typeface="Arial" panose="020B0604020202020204" pitchFamily="34" charset="0"/>
              </a:rPr>
              <a:t>This allows a single website to look and function optimally on phones, tablets, laptops, and large desktops — without needing separate codebases.</a:t>
            </a:r>
            <a:endParaRPr lang="en-IN"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DACF35D0-5B77-A5A7-8B74-9A367849CB44}"/>
              </a:ext>
            </a:extLst>
          </p:cNvPr>
          <p:cNvSpPr txBox="1"/>
          <p:nvPr/>
        </p:nvSpPr>
        <p:spPr>
          <a:xfrm>
            <a:off x="807522" y="4353780"/>
            <a:ext cx="10604665" cy="923330"/>
          </a:xfrm>
          <a:prstGeom prst="rect">
            <a:avLst/>
          </a:prstGeom>
          <a:solidFill>
            <a:schemeClr val="bg1"/>
          </a:solidFill>
        </p:spPr>
        <p:txBody>
          <a:bodyPr wrap="square">
            <a:spAutoFit/>
          </a:bodyPr>
          <a:lstStyle/>
          <a:p>
            <a:r>
              <a:rPr lang="en-GB" dirty="0">
                <a:solidFill>
                  <a:srgbClr val="00B050"/>
                </a:solidFill>
              </a:rPr>
              <a:t>@media </a:t>
            </a:r>
            <a:r>
              <a:rPr lang="en-GB" dirty="0"/>
              <a:t>(condition) {</a:t>
            </a:r>
          </a:p>
          <a:p>
            <a:r>
              <a:rPr lang="en-GB" dirty="0"/>
              <a:t>  </a:t>
            </a:r>
            <a:r>
              <a:rPr lang="en-GB" dirty="0">
                <a:solidFill>
                  <a:schemeClr val="accent1">
                    <a:lumMod val="75000"/>
                  </a:schemeClr>
                </a:solidFill>
              </a:rPr>
              <a:t>/* CSS rules to apply if the condition is true */</a:t>
            </a:r>
          </a:p>
          <a:p>
            <a:r>
              <a:rPr lang="en-GB" dirty="0"/>
              <a:t>}</a:t>
            </a:r>
          </a:p>
        </p:txBody>
      </p:sp>
    </p:spTree>
    <p:extLst>
      <p:ext uri="{BB962C8B-B14F-4D97-AF65-F5344CB8AC3E}">
        <p14:creationId xmlns:p14="http://schemas.microsoft.com/office/powerpoint/2010/main" val="1616883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3F92E7-031C-1B3B-5C2E-924F4C967B85}"/>
              </a:ext>
            </a:extLst>
          </p:cNvPr>
          <p:cNvSpPr txBox="1"/>
          <p:nvPr/>
        </p:nvSpPr>
        <p:spPr>
          <a:xfrm>
            <a:off x="546264" y="599664"/>
            <a:ext cx="11067803" cy="3139321"/>
          </a:xfrm>
          <a:prstGeom prst="rect">
            <a:avLst/>
          </a:prstGeom>
          <a:solidFill>
            <a:schemeClr val="bg1"/>
          </a:solidFill>
        </p:spPr>
        <p:txBody>
          <a:bodyPr wrap="square">
            <a:spAutoFit/>
          </a:bodyPr>
          <a:lstStyle/>
          <a:p>
            <a:r>
              <a:rPr lang="en-IN" dirty="0">
                <a:solidFill>
                  <a:schemeClr val="accent1">
                    <a:lumMod val="75000"/>
                  </a:schemeClr>
                </a:solidFill>
              </a:rPr>
              <a:t>/* For devices with max width of 768px (tablets and smaller screens) */</a:t>
            </a:r>
          </a:p>
          <a:p>
            <a:r>
              <a:rPr lang="en-IN" dirty="0">
                <a:solidFill>
                  <a:srgbClr val="00B050"/>
                </a:solidFill>
              </a:rPr>
              <a:t>@media </a:t>
            </a:r>
            <a:r>
              <a:rPr lang="en-IN" dirty="0"/>
              <a:t>(</a:t>
            </a:r>
            <a:r>
              <a:rPr lang="en-IN" dirty="0">
                <a:solidFill>
                  <a:srgbClr val="00B0F0"/>
                </a:solidFill>
              </a:rPr>
              <a:t>max-width</a:t>
            </a:r>
            <a:r>
              <a:rPr lang="en-IN" dirty="0"/>
              <a:t>: </a:t>
            </a:r>
            <a:r>
              <a:rPr lang="en-IN" dirty="0">
                <a:solidFill>
                  <a:srgbClr val="FF0000"/>
                </a:solidFill>
              </a:rPr>
              <a:t>768px</a:t>
            </a:r>
            <a:r>
              <a:rPr lang="en-IN" dirty="0"/>
              <a:t>) {</a:t>
            </a:r>
          </a:p>
          <a:p>
            <a:r>
              <a:rPr lang="en-IN" dirty="0"/>
              <a:t>  body {</a:t>
            </a:r>
          </a:p>
          <a:p>
            <a:r>
              <a:rPr lang="en-IN" dirty="0">
                <a:solidFill>
                  <a:srgbClr val="00B0F0"/>
                </a:solidFill>
              </a:rPr>
              <a:t>    font-size</a:t>
            </a:r>
            <a:r>
              <a:rPr lang="en-IN" dirty="0"/>
              <a:t>: </a:t>
            </a:r>
            <a:r>
              <a:rPr lang="en-IN" dirty="0">
                <a:solidFill>
                  <a:srgbClr val="FF0000"/>
                </a:solidFill>
              </a:rPr>
              <a:t>14px</a:t>
            </a:r>
            <a:r>
              <a:rPr lang="en-IN" dirty="0"/>
              <a:t>;    </a:t>
            </a:r>
            <a:r>
              <a:rPr lang="en-IN" dirty="0">
                <a:solidFill>
                  <a:schemeClr val="accent1">
                    <a:lumMod val="75000"/>
                  </a:schemeClr>
                </a:solidFill>
              </a:rPr>
              <a:t>/* reduce font size */</a:t>
            </a:r>
          </a:p>
          <a:p>
            <a:r>
              <a:rPr lang="en-IN" dirty="0">
                <a:solidFill>
                  <a:srgbClr val="00B0F0"/>
                </a:solidFill>
              </a:rPr>
              <a:t>    padding</a:t>
            </a:r>
            <a:r>
              <a:rPr lang="en-IN" dirty="0"/>
              <a:t>: </a:t>
            </a:r>
            <a:r>
              <a:rPr lang="en-IN" dirty="0">
                <a:solidFill>
                  <a:srgbClr val="FF0000"/>
                </a:solidFill>
              </a:rPr>
              <a:t>10px</a:t>
            </a:r>
            <a:r>
              <a:rPr lang="en-IN" dirty="0"/>
              <a:t>;      </a:t>
            </a:r>
            <a:r>
              <a:rPr lang="en-IN" dirty="0">
                <a:solidFill>
                  <a:schemeClr val="accent1">
                    <a:lumMod val="75000"/>
                  </a:schemeClr>
                </a:solidFill>
              </a:rPr>
              <a:t>/* adjust spacing */</a:t>
            </a:r>
          </a:p>
          <a:p>
            <a:r>
              <a:rPr lang="en-IN" dirty="0"/>
              <a:t>  }</a:t>
            </a:r>
          </a:p>
          <a:p>
            <a:endParaRPr lang="en-IN" dirty="0"/>
          </a:p>
          <a:p>
            <a:r>
              <a:rPr lang="en-IN" dirty="0"/>
              <a:t>  nav  </a:t>
            </a:r>
            <a:r>
              <a:rPr lang="en-IN" dirty="0" err="1"/>
              <a:t>ul</a:t>
            </a:r>
            <a:r>
              <a:rPr lang="en-IN" dirty="0"/>
              <a:t> {</a:t>
            </a:r>
          </a:p>
          <a:p>
            <a:r>
              <a:rPr lang="en-IN" dirty="0"/>
              <a:t>    </a:t>
            </a:r>
            <a:r>
              <a:rPr lang="en-IN" dirty="0">
                <a:solidFill>
                  <a:srgbClr val="00B0F0"/>
                </a:solidFill>
              </a:rPr>
              <a:t>flex-direction</a:t>
            </a:r>
            <a:r>
              <a:rPr lang="en-IN" dirty="0"/>
              <a:t>: </a:t>
            </a:r>
            <a:r>
              <a:rPr lang="en-IN" dirty="0">
                <a:solidFill>
                  <a:srgbClr val="FF0000"/>
                </a:solidFill>
              </a:rPr>
              <a:t>column</a:t>
            </a:r>
            <a:r>
              <a:rPr lang="en-IN" dirty="0"/>
              <a:t>; </a:t>
            </a:r>
            <a:r>
              <a:rPr lang="en-IN" dirty="0">
                <a:solidFill>
                  <a:schemeClr val="accent1">
                    <a:lumMod val="75000"/>
                  </a:schemeClr>
                </a:solidFill>
              </a:rPr>
              <a:t>/* stack navigation links vertically */</a:t>
            </a:r>
          </a:p>
          <a:p>
            <a:r>
              <a:rPr lang="en-IN" dirty="0"/>
              <a:t>  }</a:t>
            </a:r>
          </a:p>
          <a:p>
            <a:r>
              <a:rPr lang="en-IN" dirty="0"/>
              <a:t>}</a:t>
            </a:r>
          </a:p>
        </p:txBody>
      </p:sp>
      <p:sp>
        <p:nvSpPr>
          <p:cNvPr id="5" name="TextBox 4">
            <a:extLst>
              <a:ext uri="{FF2B5EF4-FFF2-40B4-BE49-F238E27FC236}">
                <a16:creationId xmlns:a16="http://schemas.microsoft.com/office/drawing/2014/main" id="{EB1FA570-5057-8635-A4F1-A11EB6B4AF62}"/>
              </a:ext>
            </a:extLst>
          </p:cNvPr>
          <p:cNvSpPr txBox="1"/>
          <p:nvPr/>
        </p:nvSpPr>
        <p:spPr>
          <a:xfrm>
            <a:off x="249382" y="3793574"/>
            <a:ext cx="11697195" cy="400110"/>
          </a:xfrm>
          <a:prstGeom prst="rect">
            <a:avLst/>
          </a:prstGeom>
          <a:noFill/>
        </p:spPr>
        <p:txBody>
          <a:bodyPr wrap="square">
            <a:spAutoFit/>
          </a:bodyPr>
          <a:lstStyle/>
          <a:p>
            <a:pPr marL="342900" indent="-342900">
              <a:buFont typeface="Wingdings" panose="05000000000000000000" pitchFamily="2" charset="2"/>
              <a:buChar char="q"/>
            </a:pPr>
            <a:r>
              <a:rPr lang="en-GB" sz="2000" b="1" dirty="0">
                <a:latin typeface="Arial" panose="020B0604020202020204" pitchFamily="34" charset="0"/>
                <a:cs typeface="Arial" panose="020B0604020202020204" pitchFamily="34" charset="0"/>
              </a:rPr>
              <a:t>Key roles in responsive design</a:t>
            </a:r>
            <a:endParaRPr lang="en-IN" sz="2000" b="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B873FA56-0A37-2C2F-0F8C-3A8EA951A41D}"/>
              </a:ext>
            </a:extLst>
          </p:cNvPr>
          <p:cNvSpPr txBox="1"/>
          <p:nvPr/>
        </p:nvSpPr>
        <p:spPr>
          <a:xfrm>
            <a:off x="546263" y="4153832"/>
            <a:ext cx="11067803" cy="369332"/>
          </a:xfrm>
          <a:prstGeom prst="rect">
            <a:avLst/>
          </a:prstGeom>
          <a:noFill/>
        </p:spPr>
        <p:txBody>
          <a:bodyPr wrap="square">
            <a:spAutoFit/>
          </a:bodyPr>
          <a:lstStyle/>
          <a:p>
            <a:pPr marL="342900" indent="-342900">
              <a:buFont typeface="+mj-lt"/>
              <a:buAutoNum type="arabicPeriod"/>
            </a:pPr>
            <a:r>
              <a:rPr lang="en-GB" b="1" dirty="0">
                <a:latin typeface="Arial" panose="020B0604020202020204" pitchFamily="34" charset="0"/>
                <a:cs typeface="Arial" panose="020B0604020202020204" pitchFamily="34" charset="0"/>
              </a:rPr>
              <a:t>Adjust layout</a:t>
            </a:r>
            <a:r>
              <a:rPr lang="en-GB" dirty="0">
                <a:latin typeface="Arial" panose="020B0604020202020204" pitchFamily="34" charset="0"/>
                <a:cs typeface="Arial" panose="020B0604020202020204" pitchFamily="34" charset="0"/>
              </a:rPr>
              <a:t>: Switch from multi-column layouts on desktops to single-column layouts on mobile.</a:t>
            </a:r>
            <a:endParaRPr lang="en-IN"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B3B11342-0799-AE68-CD2C-4F41B68BF662}"/>
              </a:ext>
            </a:extLst>
          </p:cNvPr>
          <p:cNvSpPr txBox="1"/>
          <p:nvPr/>
        </p:nvSpPr>
        <p:spPr>
          <a:xfrm>
            <a:off x="546263" y="4498215"/>
            <a:ext cx="11067803" cy="369332"/>
          </a:xfrm>
          <a:prstGeom prst="rect">
            <a:avLst/>
          </a:prstGeom>
          <a:noFill/>
        </p:spPr>
        <p:txBody>
          <a:bodyPr wrap="square">
            <a:spAutoFit/>
          </a:bodyPr>
          <a:lstStyle/>
          <a:p>
            <a:pPr marL="342900" indent="-342900">
              <a:buFont typeface="+mj-lt"/>
              <a:buAutoNum type="arabicPeriod" startAt="2"/>
            </a:pPr>
            <a:r>
              <a:rPr lang="en-GB" b="1" dirty="0">
                <a:latin typeface="Arial" panose="020B0604020202020204" pitchFamily="34" charset="0"/>
                <a:cs typeface="Arial" panose="020B0604020202020204" pitchFamily="34" charset="0"/>
              </a:rPr>
              <a:t>Resize text and images</a:t>
            </a:r>
            <a:r>
              <a:rPr lang="en-GB" dirty="0">
                <a:latin typeface="Arial" panose="020B0604020202020204" pitchFamily="34" charset="0"/>
                <a:cs typeface="Arial" panose="020B0604020202020204" pitchFamily="34" charset="0"/>
              </a:rPr>
              <a:t>: Make content more readable without zooming or scrolling.</a:t>
            </a:r>
            <a:endParaRPr lang="en-IN"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DC548B35-1B64-FA40-BDA5-E60FE735C556}"/>
              </a:ext>
            </a:extLst>
          </p:cNvPr>
          <p:cNvSpPr txBox="1"/>
          <p:nvPr/>
        </p:nvSpPr>
        <p:spPr>
          <a:xfrm>
            <a:off x="577933" y="4818856"/>
            <a:ext cx="11614067" cy="646331"/>
          </a:xfrm>
          <a:prstGeom prst="rect">
            <a:avLst/>
          </a:prstGeom>
          <a:noFill/>
        </p:spPr>
        <p:txBody>
          <a:bodyPr wrap="square">
            <a:spAutoFit/>
          </a:bodyPr>
          <a:lstStyle/>
          <a:p>
            <a:pPr marL="342900" indent="-342900">
              <a:buFont typeface="+mj-lt"/>
              <a:buAutoNum type="arabicPeriod" startAt="3"/>
            </a:pPr>
            <a:r>
              <a:rPr lang="en-GB" b="1" dirty="0">
                <a:latin typeface="Arial" panose="020B0604020202020204" pitchFamily="34" charset="0"/>
                <a:cs typeface="Arial" panose="020B0604020202020204" pitchFamily="34" charset="0"/>
              </a:rPr>
              <a:t>Hide or show elements</a:t>
            </a:r>
            <a:r>
              <a:rPr lang="en-GB" dirty="0">
                <a:latin typeface="Arial" panose="020B0604020202020204" pitchFamily="34" charset="0"/>
                <a:cs typeface="Arial" panose="020B0604020202020204" pitchFamily="34" charset="0"/>
              </a:rPr>
              <a:t>: Remove nonessential content on small screens or add extra content on larger screens.</a:t>
            </a:r>
            <a:endParaRPr lang="en-IN"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51D96EEE-525C-CF59-3E0F-A77863085740}"/>
              </a:ext>
            </a:extLst>
          </p:cNvPr>
          <p:cNvSpPr txBox="1"/>
          <p:nvPr/>
        </p:nvSpPr>
        <p:spPr>
          <a:xfrm>
            <a:off x="546263" y="5400744"/>
            <a:ext cx="11067803" cy="369332"/>
          </a:xfrm>
          <a:prstGeom prst="rect">
            <a:avLst/>
          </a:prstGeom>
          <a:noFill/>
        </p:spPr>
        <p:txBody>
          <a:bodyPr wrap="square">
            <a:spAutoFit/>
          </a:bodyPr>
          <a:lstStyle/>
          <a:p>
            <a:pPr marL="342900" indent="-342900">
              <a:buFont typeface="+mj-lt"/>
              <a:buAutoNum type="arabicPeriod" startAt="4"/>
            </a:pPr>
            <a:r>
              <a:rPr lang="en-GB" b="1" dirty="0">
                <a:latin typeface="Arial" panose="020B0604020202020204" pitchFamily="34" charset="0"/>
                <a:cs typeface="Arial" panose="020B0604020202020204" pitchFamily="34" charset="0"/>
              </a:rPr>
              <a:t>Change navigation style</a:t>
            </a:r>
            <a:r>
              <a:rPr lang="en-GB" dirty="0">
                <a:latin typeface="Arial" panose="020B0604020202020204" pitchFamily="34" charset="0"/>
                <a:cs typeface="Arial" panose="020B0604020202020204" pitchFamily="34" charset="0"/>
              </a:rPr>
              <a:t>: Convert horizontal menus into dropdown or hamburger menus for mobile.</a:t>
            </a:r>
            <a:endParaRPr lang="en-IN"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D631F47E-6AE1-723D-B3F6-2901A80E55FC}"/>
              </a:ext>
            </a:extLst>
          </p:cNvPr>
          <p:cNvSpPr txBox="1"/>
          <p:nvPr/>
        </p:nvSpPr>
        <p:spPr>
          <a:xfrm>
            <a:off x="546263" y="5757007"/>
            <a:ext cx="11067803" cy="369332"/>
          </a:xfrm>
          <a:prstGeom prst="rect">
            <a:avLst/>
          </a:prstGeom>
          <a:noFill/>
        </p:spPr>
        <p:txBody>
          <a:bodyPr wrap="square">
            <a:spAutoFit/>
          </a:bodyPr>
          <a:lstStyle/>
          <a:p>
            <a:pPr marL="342900" indent="-342900">
              <a:buFont typeface="+mj-lt"/>
              <a:buAutoNum type="arabicPeriod" startAt="5"/>
            </a:pPr>
            <a:r>
              <a:rPr lang="en-GB" b="1" dirty="0">
                <a:latin typeface="Arial" panose="020B0604020202020204" pitchFamily="34" charset="0"/>
                <a:cs typeface="Arial" panose="020B0604020202020204" pitchFamily="34" charset="0"/>
              </a:rPr>
              <a:t>Optimize performance</a:t>
            </a:r>
            <a:r>
              <a:rPr lang="en-GB" dirty="0">
                <a:latin typeface="Arial" panose="020B0604020202020204" pitchFamily="34" charset="0"/>
                <a:cs typeface="Arial" panose="020B0604020202020204" pitchFamily="34" charset="0"/>
              </a:rPr>
              <a:t>: Prevent loading unnecessary high-resolution images on small devices.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9985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9A132692-F0C5-0045-4A2C-1EAA216A74BC}"/>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b="66426"/>
          <a:stretch/>
        </p:blipFill>
        <p:spPr>
          <a:xfrm>
            <a:off x="0" y="0"/>
            <a:ext cx="12192000" cy="1387320"/>
          </a:xfrm>
          <a:prstGeom prst="rect">
            <a:avLst/>
          </a:prstGeom>
          <a:ln>
            <a:noFill/>
          </a:ln>
          <a:effectLst>
            <a:outerShdw blurRad="50800" dist="38100" dir="2700000" algn="tl" rotWithShape="0">
              <a:prstClr val="black">
                <a:alpha val="40000"/>
              </a:prstClr>
            </a:outerShdw>
          </a:effectLst>
        </p:spPr>
      </p:pic>
      <p:sp>
        <p:nvSpPr>
          <p:cNvPr id="4" name="TextBox 3">
            <a:extLst>
              <a:ext uri="{FF2B5EF4-FFF2-40B4-BE49-F238E27FC236}">
                <a16:creationId xmlns:a16="http://schemas.microsoft.com/office/drawing/2014/main" id="{9FD8C8A5-0554-4B61-D8AE-D9F5FC79860F}"/>
              </a:ext>
            </a:extLst>
          </p:cNvPr>
          <p:cNvSpPr txBox="1"/>
          <p:nvPr/>
        </p:nvSpPr>
        <p:spPr>
          <a:xfrm>
            <a:off x="178130" y="462546"/>
            <a:ext cx="11815948" cy="461665"/>
          </a:xfrm>
          <a:prstGeom prst="rect">
            <a:avLst/>
          </a:prstGeom>
          <a:noFill/>
        </p:spPr>
        <p:txBody>
          <a:bodyPr wrap="square">
            <a:spAutoFit/>
          </a:bodyPr>
          <a:lstStyle/>
          <a:p>
            <a:pPr marL="457200" indent="-457200">
              <a:buFont typeface="+mj-lt"/>
              <a:buAutoNum type="arabicPeriod" startAt="3"/>
            </a:pPr>
            <a:r>
              <a:rPr lang="en-GB" sz="2400" b="1" dirty="0">
                <a:solidFill>
                  <a:schemeClr val="bg2"/>
                </a:solidFill>
              </a:rPr>
              <a:t>Describe how viewport settings affect mobile displays.</a:t>
            </a:r>
            <a:endParaRPr lang="en-IN" sz="2400" b="1" dirty="0">
              <a:solidFill>
                <a:schemeClr val="bg2"/>
              </a:solidFill>
            </a:endParaRPr>
          </a:p>
        </p:txBody>
      </p:sp>
      <p:sp>
        <p:nvSpPr>
          <p:cNvPr id="6" name="TextBox 5">
            <a:extLst>
              <a:ext uri="{FF2B5EF4-FFF2-40B4-BE49-F238E27FC236}">
                <a16:creationId xmlns:a16="http://schemas.microsoft.com/office/drawing/2014/main" id="{A2176BD2-34D5-7925-1592-51F9D8C95F04}"/>
              </a:ext>
            </a:extLst>
          </p:cNvPr>
          <p:cNvSpPr txBox="1"/>
          <p:nvPr/>
        </p:nvSpPr>
        <p:spPr>
          <a:xfrm>
            <a:off x="261257" y="1523591"/>
            <a:ext cx="11732821" cy="923330"/>
          </a:xfrm>
          <a:prstGeom prst="rect">
            <a:avLst/>
          </a:prstGeom>
          <a:noFill/>
        </p:spPr>
        <p:txBody>
          <a:bodyPr wrap="square">
            <a:spAutoFit/>
          </a:bodyPr>
          <a:lstStyle/>
          <a:p>
            <a:pPr marL="285750" indent="-285750" algn="just">
              <a:buFont typeface="Wingdings" panose="05000000000000000000" pitchFamily="2" charset="2"/>
              <a:buChar char="Ø"/>
            </a:pPr>
            <a:r>
              <a:rPr lang="en-GB" dirty="0">
                <a:latin typeface="Arial" panose="020B0604020202020204" pitchFamily="34" charset="0"/>
                <a:cs typeface="Arial" panose="020B0604020202020204" pitchFamily="34" charset="0"/>
              </a:rPr>
              <a:t>The </a:t>
            </a:r>
            <a:r>
              <a:rPr lang="en-GB" b="1" dirty="0">
                <a:latin typeface="Arial" panose="020B0604020202020204" pitchFamily="34" charset="0"/>
                <a:cs typeface="Arial" panose="020B0604020202020204" pitchFamily="34" charset="0"/>
              </a:rPr>
              <a:t>viewport</a:t>
            </a:r>
            <a:r>
              <a:rPr lang="en-GB" dirty="0">
                <a:latin typeface="Arial" panose="020B0604020202020204" pitchFamily="34" charset="0"/>
                <a:cs typeface="Arial" panose="020B0604020202020204" pitchFamily="34" charset="0"/>
              </a:rPr>
              <a:t> is the visible area of a webpage on a device’s screen. On mobile devices, it’s critical to control the viewport because, by default, mobile browsers try to show webpages as if they were on a large desktop screen — then shrink them to fit, which can make text unreadable and layouts tiny.</a:t>
            </a:r>
            <a:endParaRPr lang="en-IN"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E3331CA6-7AF8-8C37-A20C-53DC4CDC4349}"/>
              </a:ext>
            </a:extLst>
          </p:cNvPr>
          <p:cNvSpPr txBox="1"/>
          <p:nvPr/>
        </p:nvSpPr>
        <p:spPr>
          <a:xfrm>
            <a:off x="261257" y="2900989"/>
            <a:ext cx="11732821" cy="646331"/>
          </a:xfrm>
          <a:prstGeom prst="rect">
            <a:avLst/>
          </a:prstGeom>
          <a:noFill/>
        </p:spPr>
        <p:txBody>
          <a:bodyPr wrap="square">
            <a:spAutoFit/>
          </a:bodyPr>
          <a:lstStyle/>
          <a:p>
            <a:r>
              <a:rPr lang="en-GB" b="1" dirty="0">
                <a:latin typeface="Arial" panose="020B0604020202020204" pitchFamily="34" charset="0"/>
                <a:cs typeface="Arial" panose="020B0604020202020204" pitchFamily="34" charset="0"/>
              </a:rPr>
              <a:t>How viewport settings work.</a:t>
            </a:r>
          </a:p>
          <a:p>
            <a:r>
              <a:rPr lang="en-GB" dirty="0">
                <a:latin typeface="Arial" panose="020B0604020202020204" pitchFamily="34" charset="0"/>
                <a:cs typeface="Arial" panose="020B0604020202020204" pitchFamily="34" charset="0"/>
              </a:rPr>
              <a:t>You control the viewport using the &lt;meta&gt; tag inside the HTML &lt;head&gt; section:</a:t>
            </a:r>
            <a:endParaRPr lang="en-IN"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5D0193D5-8180-F7F6-8834-23E0859D21A1}"/>
              </a:ext>
            </a:extLst>
          </p:cNvPr>
          <p:cNvSpPr txBox="1"/>
          <p:nvPr/>
        </p:nvSpPr>
        <p:spPr>
          <a:xfrm>
            <a:off x="261257" y="3815385"/>
            <a:ext cx="11732821" cy="369332"/>
          </a:xfrm>
          <a:prstGeom prst="rect">
            <a:avLst/>
          </a:prstGeom>
          <a:solidFill>
            <a:schemeClr val="bg1"/>
          </a:solidFill>
        </p:spPr>
        <p:txBody>
          <a:bodyPr wrap="square">
            <a:spAutoFit/>
          </a:bodyPr>
          <a:lstStyle/>
          <a:p>
            <a:r>
              <a:rPr lang="en-GB" dirty="0"/>
              <a:t>&lt;meta </a:t>
            </a:r>
            <a:r>
              <a:rPr lang="en-GB" dirty="0">
                <a:solidFill>
                  <a:srgbClr val="FF0000"/>
                </a:solidFill>
              </a:rPr>
              <a:t>name</a:t>
            </a:r>
            <a:r>
              <a:rPr lang="en-GB" dirty="0">
                <a:solidFill>
                  <a:srgbClr val="00B050"/>
                </a:solidFill>
              </a:rPr>
              <a:t>="viewport" </a:t>
            </a:r>
            <a:r>
              <a:rPr lang="en-GB" dirty="0">
                <a:solidFill>
                  <a:srgbClr val="FF0000"/>
                </a:solidFill>
              </a:rPr>
              <a:t>content</a:t>
            </a:r>
            <a:r>
              <a:rPr lang="en-GB" dirty="0"/>
              <a:t>=</a:t>
            </a:r>
            <a:r>
              <a:rPr lang="en-GB" dirty="0">
                <a:solidFill>
                  <a:srgbClr val="00B050"/>
                </a:solidFill>
              </a:rPr>
              <a:t>"width=device-width, initial-scale=1.0“</a:t>
            </a:r>
            <a:r>
              <a:rPr lang="en-GB" dirty="0"/>
              <a:t> &gt;</a:t>
            </a:r>
          </a:p>
        </p:txBody>
      </p:sp>
      <p:sp>
        <p:nvSpPr>
          <p:cNvPr id="12" name="TextBox 11">
            <a:extLst>
              <a:ext uri="{FF2B5EF4-FFF2-40B4-BE49-F238E27FC236}">
                <a16:creationId xmlns:a16="http://schemas.microsoft.com/office/drawing/2014/main" id="{6581C547-8B7E-6508-002D-65D4A182DB29}"/>
              </a:ext>
            </a:extLst>
          </p:cNvPr>
          <p:cNvSpPr txBox="1"/>
          <p:nvPr/>
        </p:nvSpPr>
        <p:spPr>
          <a:xfrm>
            <a:off x="121724" y="4262647"/>
            <a:ext cx="6157356" cy="369332"/>
          </a:xfrm>
          <a:prstGeom prst="rect">
            <a:avLst/>
          </a:prstGeom>
          <a:noFill/>
        </p:spPr>
        <p:txBody>
          <a:bodyPr wrap="square">
            <a:spAutoFit/>
          </a:bodyPr>
          <a:lstStyle/>
          <a:p>
            <a:pPr marL="285750" indent="-285750">
              <a:buFont typeface="Wingdings" panose="05000000000000000000" pitchFamily="2" charset="2"/>
              <a:buChar char="q"/>
            </a:pPr>
            <a:r>
              <a:rPr lang="en-IN" b="1" dirty="0">
                <a:latin typeface="Arial" panose="020B0604020202020204" pitchFamily="34" charset="0"/>
                <a:cs typeface="Arial" panose="020B0604020202020204" pitchFamily="34" charset="0"/>
              </a:rPr>
              <a:t>Key attributes:</a:t>
            </a:r>
          </a:p>
        </p:txBody>
      </p:sp>
      <p:sp>
        <p:nvSpPr>
          <p:cNvPr id="14" name="TextBox 13">
            <a:extLst>
              <a:ext uri="{FF2B5EF4-FFF2-40B4-BE49-F238E27FC236}">
                <a16:creationId xmlns:a16="http://schemas.microsoft.com/office/drawing/2014/main" id="{2F2F495B-1E68-11BB-4D16-6691CCEFB661}"/>
              </a:ext>
            </a:extLst>
          </p:cNvPr>
          <p:cNvSpPr txBox="1"/>
          <p:nvPr/>
        </p:nvSpPr>
        <p:spPr>
          <a:xfrm>
            <a:off x="204849" y="4595152"/>
            <a:ext cx="11219211" cy="369332"/>
          </a:xfrm>
          <a:prstGeom prst="rect">
            <a:avLst/>
          </a:prstGeom>
          <a:noFill/>
        </p:spPr>
        <p:txBody>
          <a:bodyPr wrap="square">
            <a:spAutoFit/>
          </a:bodyPr>
          <a:lstStyle/>
          <a:p>
            <a:pPr marL="342900" indent="-342900">
              <a:buFont typeface="+mj-lt"/>
              <a:buAutoNum type="arabicPeriod"/>
            </a:pPr>
            <a:r>
              <a:rPr lang="en-IN" b="1" dirty="0">
                <a:latin typeface="Arial" panose="020B0604020202020204" pitchFamily="34" charset="0"/>
                <a:cs typeface="Arial" panose="020B0604020202020204" pitchFamily="34" charset="0"/>
              </a:rPr>
              <a:t>width=device-width</a:t>
            </a:r>
          </a:p>
        </p:txBody>
      </p:sp>
      <p:sp>
        <p:nvSpPr>
          <p:cNvPr id="16" name="TextBox 15">
            <a:extLst>
              <a:ext uri="{FF2B5EF4-FFF2-40B4-BE49-F238E27FC236}">
                <a16:creationId xmlns:a16="http://schemas.microsoft.com/office/drawing/2014/main" id="{BEA58751-1D00-6A5A-CB00-79709663F556}"/>
              </a:ext>
            </a:extLst>
          </p:cNvPr>
          <p:cNvSpPr txBox="1"/>
          <p:nvPr/>
        </p:nvSpPr>
        <p:spPr>
          <a:xfrm>
            <a:off x="347359" y="4947546"/>
            <a:ext cx="11497282" cy="646331"/>
          </a:xfrm>
          <a:prstGeom prst="rect">
            <a:avLst/>
          </a:prstGeom>
          <a:noFill/>
        </p:spPr>
        <p:txBody>
          <a:bodyPr wrap="square">
            <a:spAutoFit/>
          </a:body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Sets the page width equal to the screen width of the device.</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Without this, mobile browsers often assume a default width of about 980px and zoom out.</a:t>
            </a:r>
            <a:endParaRPr lang="en-IN"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5303703D-DAC9-9925-7D1A-71570257A885}"/>
              </a:ext>
            </a:extLst>
          </p:cNvPr>
          <p:cNvSpPr txBox="1"/>
          <p:nvPr/>
        </p:nvSpPr>
        <p:spPr>
          <a:xfrm>
            <a:off x="261257" y="5533301"/>
            <a:ext cx="6469085" cy="369332"/>
          </a:xfrm>
          <a:prstGeom prst="rect">
            <a:avLst/>
          </a:prstGeom>
          <a:noFill/>
        </p:spPr>
        <p:txBody>
          <a:bodyPr wrap="square">
            <a:spAutoFit/>
          </a:bodyPr>
          <a:lstStyle/>
          <a:p>
            <a:pPr marL="342900" indent="-342900">
              <a:buFont typeface="+mj-lt"/>
              <a:buAutoNum type="arabicPeriod" startAt="2"/>
            </a:pPr>
            <a:r>
              <a:rPr lang="en-IN" b="1" dirty="0">
                <a:latin typeface="Arial" panose="020B0604020202020204" pitchFamily="34" charset="0"/>
                <a:cs typeface="Arial" panose="020B0604020202020204" pitchFamily="34" charset="0"/>
              </a:rPr>
              <a:t>initial-scale=1.0</a:t>
            </a:r>
          </a:p>
        </p:txBody>
      </p:sp>
      <p:sp>
        <p:nvSpPr>
          <p:cNvPr id="21" name="TextBox 20">
            <a:extLst>
              <a:ext uri="{FF2B5EF4-FFF2-40B4-BE49-F238E27FC236}">
                <a16:creationId xmlns:a16="http://schemas.microsoft.com/office/drawing/2014/main" id="{B2A68F2E-41BC-B700-45E5-2D450C9AD9C3}"/>
              </a:ext>
            </a:extLst>
          </p:cNvPr>
          <p:cNvSpPr txBox="1"/>
          <p:nvPr/>
        </p:nvSpPr>
        <p:spPr>
          <a:xfrm>
            <a:off x="287984" y="5857941"/>
            <a:ext cx="11497282" cy="646331"/>
          </a:xfrm>
          <a:prstGeom prst="rect">
            <a:avLst/>
          </a:prstGeom>
          <a:noFill/>
        </p:spPr>
        <p:txBody>
          <a:bodyPr wrap="square">
            <a:spAutoFit/>
          </a:body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Sets the zoom level when the page first loads.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A value of 1.0 means no scaling — what you design is what users see.</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16064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1F79E1-E380-27F5-BD13-0BDD2979E5BC}"/>
              </a:ext>
            </a:extLst>
          </p:cNvPr>
          <p:cNvSpPr txBox="1"/>
          <p:nvPr/>
        </p:nvSpPr>
        <p:spPr>
          <a:xfrm>
            <a:off x="463139" y="219100"/>
            <a:ext cx="11329058" cy="369332"/>
          </a:xfrm>
          <a:prstGeom prst="rect">
            <a:avLst/>
          </a:prstGeom>
          <a:noFill/>
        </p:spPr>
        <p:txBody>
          <a:bodyPr wrap="square">
            <a:spAutoFit/>
          </a:bodyPr>
          <a:lstStyle/>
          <a:p>
            <a:pPr marL="342900" indent="-342900">
              <a:buFont typeface="+mj-lt"/>
              <a:buAutoNum type="arabicPeriod" startAt="3"/>
            </a:pPr>
            <a:r>
              <a:rPr lang="en-IN" b="1" dirty="0">
                <a:latin typeface="Arial" panose="020B0604020202020204" pitchFamily="34" charset="0"/>
                <a:cs typeface="Arial" panose="020B0604020202020204" pitchFamily="34" charset="0"/>
              </a:rPr>
              <a:t>Optional controls:</a:t>
            </a:r>
          </a:p>
        </p:txBody>
      </p:sp>
      <p:sp>
        <p:nvSpPr>
          <p:cNvPr id="5" name="TextBox 4">
            <a:extLst>
              <a:ext uri="{FF2B5EF4-FFF2-40B4-BE49-F238E27FC236}">
                <a16:creationId xmlns:a16="http://schemas.microsoft.com/office/drawing/2014/main" id="{453F278E-328E-75B5-8EAA-6B9B1ED699A2}"/>
              </a:ext>
            </a:extLst>
          </p:cNvPr>
          <p:cNvSpPr txBox="1"/>
          <p:nvPr/>
        </p:nvSpPr>
        <p:spPr>
          <a:xfrm>
            <a:off x="463139" y="535864"/>
            <a:ext cx="11329058" cy="646331"/>
          </a:xfrm>
          <a:prstGeom prst="rect">
            <a:avLst/>
          </a:prstGeom>
          <a:noFill/>
        </p:spPr>
        <p:txBody>
          <a:bodyPr wrap="square">
            <a:spAutoFit/>
          </a:body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maximum-scale or minimum-scale to restrict zooming.</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user-scalable=no to prevent zooming (not recommended for accessibility).</a:t>
            </a:r>
            <a:endParaRPr lang="en-IN"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A6F83AE7-4215-23A0-9BA0-E24B3A5F40D5}"/>
              </a:ext>
            </a:extLst>
          </p:cNvPr>
          <p:cNvSpPr txBox="1"/>
          <p:nvPr/>
        </p:nvSpPr>
        <p:spPr>
          <a:xfrm>
            <a:off x="0" y="1382880"/>
            <a:ext cx="11922826" cy="400110"/>
          </a:xfrm>
          <a:prstGeom prst="rect">
            <a:avLst/>
          </a:prstGeom>
          <a:noFill/>
        </p:spPr>
        <p:txBody>
          <a:bodyPr wrap="square">
            <a:spAutoFit/>
          </a:bodyPr>
          <a:lstStyle/>
          <a:p>
            <a:pPr marL="342900" indent="-342900">
              <a:buFont typeface="Wingdings" panose="05000000000000000000" pitchFamily="2" charset="2"/>
              <a:buChar char="q"/>
            </a:pPr>
            <a:r>
              <a:rPr lang="en-IN" sz="2000" b="1" dirty="0">
                <a:latin typeface="Arial" panose="020B0604020202020204" pitchFamily="34" charset="0"/>
                <a:cs typeface="Arial" panose="020B0604020202020204" pitchFamily="34" charset="0"/>
              </a:rPr>
              <a:t>Effects on mobile displays</a:t>
            </a:r>
          </a:p>
        </p:txBody>
      </p:sp>
      <p:sp>
        <p:nvSpPr>
          <p:cNvPr id="10" name="TextBox 9">
            <a:extLst>
              <a:ext uri="{FF2B5EF4-FFF2-40B4-BE49-F238E27FC236}">
                <a16:creationId xmlns:a16="http://schemas.microsoft.com/office/drawing/2014/main" id="{A9ADF64B-3F63-7791-3627-AC13B1AD48AA}"/>
              </a:ext>
            </a:extLst>
          </p:cNvPr>
          <p:cNvSpPr txBox="1"/>
          <p:nvPr/>
        </p:nvSpPr>
        <p:spPr>
          <a:xfrm>
            <a:off x="225631" y="1802802"/>
            <a:ext cx="11566566" cy="1754326"/>
          </a:xfrm>
          <a:prstGeom prst="rect">
            <a:avLst/>
          </a:prstGeom>
          <a:noFill/>
        </p:spPr>
        <p:txBody>
          <a:bodyPr wrap="square">
            <a:spAutoFit/>
          </a:body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Proper scaling: Content fits naturally on the screen without forcing users to pinch-</a:t>
            </a:r>
            <a:r>
              <a:rPr lang="en-GB" dirty="0" err="1">
                <a:latin typeface="Arial" panose="020B0604020202020204" pitchFamily="34" charset="0"/>
                <a:cs typeface="Arial" panose="020B0604020202020204" pitchFamily="34" charset="0"/>
              </a:rPr>
              <a:t>zoom.Accurate</a:t>
            </a:r>
            <a:r>
              <a:rPr lang="en-GB"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breakpoints: CSS media queries like @media (max-width: 768px) work as intended because the browser’s reported width matches the actual device width.</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Better readability: Text and images appear at the correct size.</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Consistent layout control: Designers can create fluid or responsive layouts without fighting the browser’s default scaling </a:t>
            </a:r>
            <a:r>
              <a:rPr lang="en-GB" dirty="0" err="1">
                <a:latin typeface="Arial" panose="020B0604020202020204" pitchFamily="34" charset="0"/>
                <a:cs typeface="Arial" panose="020B0604020202020204" pitchFamily="34" charset="0"/>
              </a:rPr>
              <a:t>behavior</a:t>
            </a:r>
            <a:r>
              <a:rPr lang="en-GB"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19933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C4C00F4-06E9-43E3-AD97-88A857CEFA8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64B270AB-C138-415C-897E-3C24487DECF1}">
  <ds:schemaRefs>
    <ds:schemaRef ds:uri="http://schemas.microsoft.com/sharepoint/v3/contenttype/forms"/>
  </ds:schemaRefs>
</ds:datastoreItem>
</file>

<file path=customXml/itemProps3.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Circuit</Template>
  <TotalTime>336</TotalTime>
  <Words>1807</Words>
  <Application>Microsoft Office PowerPoint</Application>
  <PresentationFormat>Widescreen</PresentationFormat>
  <Paragraphs>182</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Calisto MT</vt:lpstr>
      <vt:lpstr>fkGroteskNeue</vt:lpstr>
      <vt:lpstr>Wingdings</vt:lpstr>
      <vt:lpstr>Wingdings 2</vt:lpstr>
      <vt:lpstr>Slate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varmavishal8888@gmail.com</dc:creator>
  <cp:lastModifiedBy>nbvb bnb</cp:lastModifiedBy>
  <cp:revision>8</cp:revision>
  <dcterms:created xsi:type="dcterms:W3CDTF">2025-08-21T06:03:47Z</dcterms:created>
  <dcterms:modified xsi:type="dcterms:W3CDTF">2025-08-22T19:24:19Z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