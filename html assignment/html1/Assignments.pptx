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8" r:id="rId2"/>
    <p:sldId id="264" r:id="rId3"/>
    <p:sldId id="260" r:id="rId4"/>
    <p:sldId id="263" r:id="rId5"/>
    <p:sldId id="265" r:id="rId6"/>
    <p:sldId id="266" r:id="rId7"/>
    <p:sldId id="267" r:id="rId8"/>
    <p:sldId id="269" r:id="rId9"/>
    <p:sldId id="268" r:id="rId10"/>
    <p:sldId id="270" r:id="rId11"/>
    <p:sldId id="27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8/14/2025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8/14/2025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8/14/2025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8/14/2025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8/14/2025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8/14/2025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8/14/2025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8/14/2025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8/14/2025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8/14/2025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8/14/2025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8/14/2025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8/14/2025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8/14/2025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8/14/2025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4D324-BEB8-2F1D-CFBE-433A8439F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5400" dirty="0"/>
              <a:t>Assignments</a:t>
            </a:r>
            <a:r>
              <a:rPr lang="en-IN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A91FC0B-5FC9-18FE-D124-8DA30F65F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239540"/>
            <a:ext cx="10554574" cy="3636511"/>
          </a:xfrm>
        </p:spPr>
        <p:txBody>
          <a:bodyPr/>
          <a:lstStyle/>
          <a:p>
            <a:r>
              <a:rPr lang="en-US" sz="2400" dirty="0"/>
              <a:t>Theory Assignments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dirty="0"/>
              <a:t> 1. Explain the structure of an HTML document and the purpose of DOCTYPE.</a:t>
            </a:r>
          </a:p>
          <a:p>
            <a:pPr marL="0" indent="0">
              <a:buNone/>
            </a:pPr>
            <a:r>
              <a:rPr lang="en-US" sz="1800" dirty="0"/>
              <a:t> 2. List and explain at least five common HTML tags used in website design.</a:t>
            </a:r>
          </a:p>
          <a:p>
            <a:pPr marL="0" indent="0">
              <a:buNone/>
            </a:pPr>
            <a:r>
              <a:rPr lang="en-US" sz="1800" dirty="0"/>
              <a:t> 3. Describe the difference between block-level and inline elements in HTML</a:t>
            </a:r>
            <a:r>
              <a:rPr lang="en-US" dirty="0"/>
              <a:t>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A65A088-6338-0775-62AA-578DA6D77BFF}"/>
              </a:ext>
            </a:extLst>
          </p:cNvPr>
          <p:cNvSpPr txBox="1">
            <a:spLocks/>
          </p:cNvSpPr>
          <p:nvPr/>
        </p:nvSpPr>
        <p:spPr>
          <a:xfrm>
            <a:off x="150499" y="232910"/>
            <a:ext cx="4852988" cy="854015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2406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755DA-DBAA-5525-B738-C169F1DD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332" y="2222287"/>
            <a:ext cx="11006345" cy="3636511"/>
          </a:xfrm>
        </p:spPr>
        <p:txBody>
          <a:bodyPr>
            <a:normAutofit/>
          </a:bodyPr>
          <a:lstStyle/>
          <a:p>
            <a:pPr algn="just"/>
            <a:r>
              <a:rPr lang="en-IN" sz="3200" dirty="0"/>
              <a:t>Ans:-  </a:t>
            </a:r>
            <a:r>
              <a:rPr lang="en-US" sz="3200" dirty="0"/>
              <a:t>An HTML document has a specific structure     that helps the browser understand and display the content properly. The structure includes the following main parts:</a:t>
            </a:r>
            <a:r>
              <a:rPr lang="en-IN" sz="3200" dirty="0"/>
              <a:t> </a:t>
            </a:r>
          </a:p>
          <a:p>
            <a:pPr marL="0" indent="0">
              <a:buNone/>
            </a:pPr>
            <a:endParaRPr lang="en-IN" sz="32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59CA3C9-9296-D218-41A0-36D1C27FE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741" y="447675"/>
            <a:ext cx="10674546" cy="969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Explain the structure of an HTML document and the purpose of DOCTYPE.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154262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E3DF3-449C-38ED-6F98-80EFDEAB3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dirty="0"/>
              <a:t>1. Structure of an HTML Document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4E7B7-0FDC-BF77-3D3B-9FF8232F0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1" y="2389517"/>
            <a:ext cx="11051235" cy="4021295"/>
          </a:xfrm>
        </p:spPr>
        <p:txBody>
          <a:bodyPr>
            <a:normAutofit fontScale="85000" lnSpcReduction="10000"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 lang="</a:t>
            </a:r>
            <a:r>
              <a:rPr lang="en-IN" dirty="0" err="1"/>
              <a:t>en</a:t>
            </a:r>
            <a:r>
              <a:rPr lang="en-IN" dirty="0"/>
              <a:t>"&gt;</a:t>
            </a:r>
          </a:p>
          <a:p>
            <a:r>
              <a:rPr lang="en-IN" dirty="0"/>
              <a:t>&lt;head&gt;</a:t>
            </a:r>
          </a:p>
          <a:p>
            <a:r>
              <a:rPr lang="en-IN" dirty="0"/>
              <a:t>    &lt;meta charset="UTF-8"&gt;</a:t>
            </a:r>
          </a:p>
          <a:p>
            <a:r>
              <a:rPr lang="en-IN" dirty="0"/>
              <a:t>    &lt;meta name="viewport" content="width=device-width, initial-scale=1.0"&gt;</a:t>
            </a:r>
          </a:p>
          <a:p>
            <a:r>
              <a:rPr lang="en-IN" dirty="0"/>
              <a:t>    &lt;title&gt;My Webpage&lt;/title&gt;</a:t>
            </a:r>
          </a:p>
          <a:p>
            <a:r>
              <a:rPr lang="en-IN" dirty="0"/>
              <a:t>&lt;/head&gt;</a:t>
            </a:r>
          </a:p>
          <a:p>
            <a:r>
              <a:rPr lang="en-IN" dirty="0"/>
              <a:t>&lt;body&gt;</a:t>
            </a:r>
          </a:p>
          <a:p>
            <a:r>
              <a:rPr lang="en-IN" dirty="0"/>
              <a:t>    &lt;h1&gt;Hello, world!&lt;/h1&gt;</a:t>
            </a:r>
          </a:p>
          <a:p>
            <a:r>
              <a:rPr lang="en-IN" dirty="0"/>
              <a:t>    &lt;p&gt;This is a simple HTML document.&lt;/p&gt;</a:t>
            </a:r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4505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739D9-9ECC-FE87-409C-7E8AEF193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99" y="232910"/>
            <a:ext cx="4852988" cy="854015"/>
          </a:xfrm>
        </p:spPr>
        <p:txBody>
          <a:bodyPr/>
          <a:lstStyle/>
          <a:p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1.&lt;!DOCTYPE html&gt;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648302A-A005-573A-C8D3-6859A4F2512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6269" y="625711"/>
            <a:ext cx="11955232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Declares the type of document (HTML5 here).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Tells the browser how to interpret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E07A6F8-A73B-F245-EC41-99DC9862B5E8}"/>
              </a:ext>
            </a:extLst>
          </p:cNvPr>
          <p:cNvSpPr txBox="1">
            <a:spLocks/>
          </p:cNvSpPr>
          <p:nvPr/>
        </p:nvSpPr>
        <p:spPr>
          <a:xfrm>
            <a:off x="113121" y="1437732"/>
            <a:ext cx="4852988" cy="854015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0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en-US" b="1" dirty="0">
                <a:solidFill>
                  <a:schemeClr val="tx1"/>
                </a:solidFill>
                <a:latin typeface="Arial Unicode MS"/>
              </a:rPr>
              <a:t>2.&lt;html&gt; element</a:t>
            </a:r>
            <a:br>
              <a:rPr lang="en-US" altLang="en-US" sz="1800" dirty="0">
                <a:solidFill>
                  <a:schemeClr val="tx1"/>
                </a:solidFill>
              </a:rPr>
            </a:br>
            <a:endParaRPr lang="en-IN" dirty="0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E9144892-7392-0465-6C79-6E8866ACC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69" y="2011315"/>
            <a:ext cx="545552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0A7607D3-AB44-878B-3DC8-CD508BDFD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94" y="1989395"/>
            <a:ext cx="11840210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800" dirty="0"/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  The root of the  document.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 The </a:t>
            </a:r>
            <a:r>
              <a:rPr lang="en-US" altLang="en-US" sz="1400" dirty="0">
                <a:latin typeface="Arial" panose="020B0604020202020204" pitchFamily="34" charset="0"/>
              </a:rPr>
              <a:t>lang=“</a:t>
            </a:r>
            <a:r>
              <a:rPr lang="en-US" altLang="en-US" sz="1400" dirty="0" err="1">
                <a:latin typeface="Arial" panose="020B0604020202020204" pitchFamily="34" charset="0"/>
              </a:rPr>
              <a:t>en</a:t>
            </a:r>
            <a:r>
              <a:rPr lang="en-US" altLang="en-US" sz="1400" dirty="0">
                <a:latin typeface="Arial" panose="020B0604020202020204" pitchFamily="34" charset="0"/>
              </a:rPr>
              <a:t>” </a:t>
            </a:r>
            <a:r>
              <a:rPr lang="en-US" altLang="en-US" sz="1800" dirty="0">
                <a:latin typeface="Arial" panose="020B0604020202020204" pitchFamily="34" charset="0"/>
              </a:rPr>
              <a:t>attribute specifies the language for accessibility and SEO.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435F0FD4-E3F2-3A2E-A4F1-70FE76F963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69" y="3738932"/>
            <a:ext cx="11955232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800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5751AB-A358-216F-593F-FF83B850A691}"/>
              </a:ext>
            </a:extLst>
          </p:cNvPr>
          <p:cNvSpPr txBox="1"/>
          <p:nvPr/>
        </p:nvSpPr>
        <p:spPr>
          <a:xfrm>
            <a:off x="463138" y="3598231"/>
            <a:ext cx="117288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Contains metadata (information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about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document, not shown directly on the page).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Includes: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58EBA091-530B-E7AF-E02A-4136E120D93F}"/>
              </a:ext>
            </a:extLst>
          </p:cNvPr>
          <p:cNvSpPr txBox="1">
            <a:spLocks/>
          </p:cNvSpPr>
          <p:nvPr/>
        </p:nvSpPr>
        <p:spPr>
          <a:xfrm>
            <a:off x="101024" y="2891001"/>
            <a:ext cx="4852988" cy="847931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0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en-US" b="1" dirty="0">
                <a:solidFill>
                  <a:schemeClr val="tx1"/>
                </a:solidFill>
                <a:latin typeface="Arial Unicode MS"/>
              </a:rPr>
              <a:t>3.&lt;head&gt; element</a:t>
            </a:r>
            <a:br>
              <a:rPr lang="en-US" altLang="en-US" sz="1800" dirty="0">
                <a:solidFill>
                  <a:schemeClr val="tx1"/>
                </a:solidFill>
              </a:rPr>
            </a:b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978BBD-7BA1-BF4D-8AE8-F9D465A8191E}"/>
              </a:ext>
            </a:extLst>
          </p:cNvPr>
          <p:cNvSpPr txBox="1"/>
          <p:nvPr/>
        </p:nvSpPr>
        <p:spPr>
          <a:xfrm>
            <a:off x="819411" y="4203868"/>
            <a:ext cx="113725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&lt;meta charset="UTF-8"&gt;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Ensures correct character encoding (supports all </a:t>
            </a:r>
            <a:r>
              <a:rPr kumimoji="0" lang="en-I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languages /symbol).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&lt;meta name="viewport" ...&gt;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Makes the page responsive on mobile devices.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&lt;title&gt;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Defines the page title shown in browser tabs.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Links to stylesheets, scripts, or SEO tags may also go here.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400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E7F7C4F-0D18-C496-5D4D-E6396A031B10}"/>
              </a:ext>
            </a:extLst>
          </p:cNvPr>
          <p:cNvSpPr txBox="1"/>
          <p:nvPr/>
        </p:nvSpPr>
        <p:spPr>
          <a:xfrm>
            <a:off x="593769" y="866902"/>
            <a:ext cx="66127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Contains all visible content: text, images, buttons, videos,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 structure is made using HTML elements like: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9995EF-0A91-1FC7-B23D-F24D0BF4FF64}"/>
              </a:ext>
            </a:extLst>
          </p:cNvPr>
          <p:cNvSpPr txBox="1"/>
          <p:nvPr/>
        </p:nvSpPr>
        <p:spPr>
          <a:xfrm>
            <a:off x="961891" y="1520048"/>
            <a:ext cx="101534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Headings (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&lt;h1&gt;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&lt;h6&gt;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Paragraphs (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&lt;p&gt;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),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Lists (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&gt;, &lt;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Links (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&lt;a&gt;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),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Divisions (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&lt;div&gt;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and many more.</a:t>
            </a:r>
          </a:p>
          <a:p>
            <a:endParaRPr lang="en-IN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EA0A544-E721-6E4A-012D-3185CA197D4D}"/>
              </a:ext>
            </a:extLst>
          </p:cNvPr>
          <p:cNvSpPr txBox="1">
            <a:spLocks/>
          </p:cNvSpPr>
          <p:nvPr/>
        </p:nvSpPr>
        <p:spPr>
          <a:xfrm>
            <a:off x="150499" y="232910"/>
            <a:ext cx="4852988" cy="85401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en-US" sz="2400" dirty="0">
                <a:solidFill>
                  <a:schemeClr val="tx1"/>
                </a:solidFill>
                <a:latin typeface="Arial Unicode MS"/>
              </a:rPr>
              <a:t>4.&lt;body&gt; element</a:t>
            </a:r>
            <a:br>
              <a:rPr lang="en-US" altLang="en-US" sz="1800" b="0" dirty="0">
                <a:solidFill>
                  <a:schemeClr val="tx1"/>
                </a:solidFill>
              </a:rPr>
            </a:br>
            <a:r>
              <a:rPr lang="en-US" altLang="en-US" sz="1800" b="0" dirty="0">
                <a:solidFill>
                  <a:schemeClr val="tx1"/>
                </a:solidFill>
              </a:rPr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1317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D96A0-3A96-DE8B-0545-E55762310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37" y="352188"/>
            <a:ext cx="10571998" cy="970450"/>
          </a:xfrm>
        </p:spPr>
        <p:txBody>
          <a:bodyPr/>
          <a:lstStyle/>
          <a:p>
            <a:r>
              <a:rPr lang="en-IN" dirty="0"/>
              <a:t>2.Purpose of &lt;!DOCTYPE&gt;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D8214FB-FB7D-B0CA-5413-910595EF6804}"/>
              </a:ext>
            </a:extLst>
          </p:cNvPr>
          <p:cNvSpPr txBox="1">
            <a:spLocks/>
          </p:cNvSpPr>
          <p:nvPr/>
        </p:nvSpPr>
        <p:spPr>
          <a:xfrm>
            <a:off x="356260" y="2560473"/>
            <a:ext cx="11835739" cy="854015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altLang="en-US" sz="2400" b="0" dirty="0">
              <a:solidFill>
                <a:schemeClr val="tx1"/>
              </a:solidFill>
              <a:latin typeface="Arial Unicode MS"/>
            </a:endParaRPr>
          </a:p>
          <a:p>
            <a:r>
              <a:rPr lang="en-IN" altLang="en-US" sz="2400" b="0" dirty="0">
                <a:solidFill>
                  <a:schemeClr val="tx1"/>
                </a:solidFill>
                <a:latin typeface="Arial Unicode MS"/>
              </a:rPr>
              <a:t>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&lt;!DOCTYPE&gt;</a:t>
            </a:r>
            <a:r>
              <a:rPr lang="en-US" altLang="en-US" sz="1600" b="0" dirty="0">
                <a:solidFill>
                  <a:schemeClr val="tx1"/>
                </a:solidFill>
                <a:latin typeface="Arial Unicode MS"/>
              </a:rPr>
              <a:t> </a:t>
            </a:r>
            <a:r>
              <a:rPr lang="en-IN" altLang="en-US" sz="2400" b="0" dirty="0">
                <a:solidFill>
                  <a:schemeClr val="tx1"/>
                </a:solidFill>
                <a:latin typeface="Arial Unicode MS"/>
              </a:rPr>
              <a:t>declaration tells the browser.</a:t>
            </a:r>
          </a:p>
          <a:p>
            <a:endParaRPr lang="en-US" altLang="en-US" sz="2400" b="0" dirty="0">
              <a:solidFill>
                <a:schemeClr val="tx1"/>
              </a:solidFill>
              <a:latin typeface="Arial Unicode M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0001F4-5236-EE25-AC14-76D480C8B13F}"/>
              </a:ext>
            </a:extLst>
          </p:cNvPr>
          <p:cNvSpPr txBox="1"/>
          <p:nvPr/>
        </p:nvSpPr>
        <p:spPr>
          <a:xfrm>
            <a:off x="712522" y="3158842"/>
            <a:ext cx="6870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“This is an HTML document, and I’m using HTML5 standards.”</a:t>
            </a:r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269DBB7-865F-156D-3B77-5FC2B5FCA158}"/>
              </a:ext>
            </a:extLst>
          </p:cNvPr>
          <p:cNvSpPr txBox="1">
            <a:spLocks/>
          </p:cNvSpPr>
          <p:nvPr/>
        </p:nvSpPr>
        <p:spPr>
          <a:xfrm>
            <a:off x="150499" y="3629250"/>
            <a:ext cx="12041500" cy="85401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en-US" sz="2400" dirty="0">
                <a:solidFill>
                  <a:schemeClr val="tx1"/>
                </a:solidFill>
                <a:latin typeface="Arial Unicode MS"/>
              </a:rPr>
              <a:t>Why it matters:</a:t>
            </a:r>
            <a:br>
              <a:rPr lang="en-US" altLang="en-US" sz="1800" b="0" dirty="0">
                <a:solidFill>
                  <a:schemeClr val="tx1"/>
                </a:solidFill>
              </a:rPr>
            </a:br>
            <a:r>
              <a:rPr lang="en-US" altLang="en-US" sz="1800" b="0" dirty="0">
                <a:solidFill>
                  <a:schemeClr val="tx1"/>
                </a:solidFill>
              </a:rPr>
              <a:t> 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B9C46A-C1CB-914A-2C6F-D4FDCDC9CBC2}"/>
              </a:ext>
            </a:extLst>
          </p:cNvPr>
          <p:cNvSpPr txBox="1"/>
          <p:nvPr/>
        </p:nvSpPr>
        <p:spPr>
          <a:xfrm>
            <a:off x="0" y="4690753"/>
            <a:ext cx="118159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Without it: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Browsers may enter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quirks mode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where they try to emulate old, non-standard behavior (to support outdated sites). This can cause layout problems.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it: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Browsers use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standards mode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where they strictly follow modern HTML and CSS rules, making your page consistent across different browsers.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2019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93D81E0-E40E-EE3B-034F-1BFDF7F0D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379" y="447675"/>
            <a:ext cx="11863450" cy="1107993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en-US" sz="3200" dirty="0"/>
              <a:t>List and explain at least five common HTML tags used in website design.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9A53D9-685C-E89E-941E-8DC5D7BDDFAA}"/>
              </a:ext>
            </a:extLst>
          </p:cNvPr>
          <p:cNvSpPr txBox="1"/>
          <p:nvPr/>
        </p:nvSpPr>
        <p:spPr>
          <a:xfrm>
            <a:off x="131997" y="2333502"/>
            <a:ext cx="10674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rial Unicode MS"/>
              </a:rPr>
              <a:t>List and Table Tags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F1E1B87-1C7F-6501-052D-C939645CA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98082"/>
              </p:ext>
            </p:extLst>
          </p:nvPr>
        </p:nvGraphicFramePr>
        <p:xfrm>
          <a:off x="154379" y="2783299"/>
          <a:ext cx="11863450" cy="378375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09588">
                  <a:extLst>
                    <a:ext uri="{9D8B030D-6E8A-4147-A177-3AD203B41FA5}">
                      <a16:colId xmlns:a16="http://schemas.microsoft.com/office/drawing/2014/main" val="2215196671"/>
                    </a:ext>
                  </a:extLst>
                </a:gridCol>
                <a:gridCol w="9853862">
                  <a:extLst>
                    <a:ext uri="{9D8B030D-6E8A-4147-A177-3AD203B41FA5}">
                      <a16:colId xmlns:a16="http://schemas.microsoft.com/office/drawing/2014/main" val="3423864324"/>
                    </a:ext>
                  </a:extLst>
                </a:gridCol>
              </a:tblGrid>
              <a:tr h="47378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340577"/>
                  </a:ext>
                </a:extLst>
              </a:tr>
              <a:tr h="473781">
                <a:tc>
                  <a:txBody>
                    <a:bodyPr/>
                    <a:lstStyle/>
                    <a:p>
                      <a:r>
                        <a:rPr lang="en-IN" sz="2000" b="1" dirty="0"/>
                        <a:t>&lt;</a:t>
                      </a:r>
                      <a:r>
                        <a:rPr lang="en-IN" sz="2000" b="1" dirty="0" err="1"/>
                        <a:t>ul</a:t>
                      </a:r>
                      <a:r>
                        <a:rPr lang="en-IN" sz="2000" b="1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1" dirty="0"/>
                        <a:t>Creates an unordered list with bullet points.</a:t>
                      </a:r>
                      <a:endParaRPr lang="en-IN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4228564"/>
                  </a:ext>
                </a:extLst>
              </a:tr>
              <a:tr h="473781">
                <a:tc>
                  <a:txBody>
                    <a:bodyPr/>
                    <a:lstStyle/>
                    <a:p>
                      <a:r>
                        <a:rPr lang="en-IN" sz="2000" b="1" dirty="0"/>
                        <a:t>&lt;</a:t>
                      </a:r>
                      <a:r>
                        <a:rPr lang="en-IN" sz="2000" b="1" dirty="0" err="1"/>
                        <a:t>ol</a:t>
                      </a:r>
                      <a:r>
                        <a:rPr lang="en-IN" sz="2000" b="1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1" dirty="0"/>
                        <a:t>Creates an ordered list with numbering or lettering.</a:t>
                      </a:r>
                      <a:endParaRPr lang="en-IN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836562"/>
                  </a:ext>
                </a:extLst>
              </a:tr>
              <a:tr h="467291">
                <a:tc>
                  <a:txBody>
                    <a:bodyPr/>
                    <a:lstStyle/>
                    <a:p>
                      <a:r>
                        <a:rPr lang="en-IN" sz="2000" b="1" dirty="0"/>
                        <a:t>&lt;li&gt;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1" dirty="0"/>
                        <a:t>Represents an individual list item inside &lt;</a:t>
                      </a:r>
                      <a:r>
                        <a:rPr lang="en-GB" sz="2000" b="1" dirty="0" err="1"/>
                        <a:t>ul</a:t>
                      </a:r>
                      <a:r>
                        <a:rPr lang="en-GB" sz="2000" b="1" dirty="0"/>
                        <a:t>&gt; or &lt;</a:t>
                      </a:r>
                      <a:r>
                        <a:rPr lang="en-GB" sz="2000" b="1" dirty="0" err="1"/>
                        <a:t>ol</a:t>
                      </a:r>
                      <a:r>
                        <a:rPr lang="en-GB" sz="2000" b="1" dirty="0"/>
                        <a:t>&gt;.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7183690"/>
                  </a:ext>
                </a:extLst>
              </a:tr>
              <a:tr h="473781">
                <a:tc>
                  <a:txBody>
                    <a:bodyPr/>
                    <a:lstStyle/>
                    <a:p>
                      <a:r>
                        <a:rPr lang="en-IN" sz="2000" b="1" dirty="0"/>
                        <a:t>&lt;table&gt;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1" dirty="0"/>
                        <a:t>Creates a table structure to organize data in rows and columns.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92697"/>
                  </a:ext>
                </a:extLst>
              </a:tr>
              <a:tr h="473781">
                <a:tc>
                  <a:txBody>
                    <a:bodyPr/>
                    <a:lstStyle/>
                    <a:p>
                      <a:r>
                        <a:rPr lang="en-IN" sz="2000" b="1" dirty="0"/>
                        <a:t>&lt;tr&gt;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1" dirty="0"/>
                        <a:t>Defines a row in a table.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300301"/>
                  </a:ext>
                </a:extLst>
              </a:tr>
              <a:tr h="473781">
                <a:tc>
                  <a:txBody>
                    <a:bodyPr/>
                    <a:lstStyle/>
                    <a:p>
                      <a:r>
                        <a:rPr lang="en-IN" sz="2000" b="1" dirty="0"/>
                        <a:t>&lt;</a:t>
                      </a:r>
                      <a:r>
                        <a:rPr lang="en-IN" sz="2000" b="1" dirty="0" err="1"/>
                        <a:t>th</a:t>
                      </a:r>
                      <a:r>
                        <a:rPr lang="en-IN" sz="2000" b="1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1" dirty="0"/>
                        <a:t>Defines a header cell in a table, usually displayed in bold.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14929"/>
                  </a:ext>
                </a:extLst>
              </a:tr>
              <a:tr h="473781">
                <a:tc>
                  <a:txBody>
                    <a:bodyPr/>
                    <a:lstStyle/>
                    <a:p>
                      <a:r>
                        <a:rPr lang="en-IN" sz="2000" b="1" dirty="0"/>
                        <a:t>&lt;td&gt;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1" dirty="0"/>
                        <a:t>Defines a standard data cell within a table.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214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3036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20E36-68ED-D850-A25B-CFFA4FF50AFD}"/>
              </a:ext>
            </a:extLst>
          </p:cNvPr>
          <p:cNvSpPr txBox="1">
            <a:spLocks/>
          </p:cNvSpPr>
          <p:nvPr/>
        </p:nvSpPr>
        <p:spPr>
          <a:xfrm>
            <a:off x="121234" y="387812"/>
            <a:ext cx="10571998" cy="97045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/>
              <a:t>There are five common html tags.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0F76438-38F9-D4BB-4CE4-48F5B0AA2A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372689"/>
              </p:ext>
            </p:extLst>
          </p:nvPr>
        </p:nvGraphicFramePr>
        <p:xfrm>
          <a:off x="191325" y="1408435"/>
          <a:ext cx="11850254" cy="3266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49350">
                  <a:extLst>
                    <a:ext uri="{9D8B030D-6E8A-4147-A177-3AD203B41FA5}">
                      <a16:colId xmlns:a16="http://schemas.microsoft.com/office/drawing/2014/main" val="3706804983"/>
                    </a:ext>
                  </a:extLst>
                </a:gridCol>
                <a:gridCol w="10200904">
                  <a:extLst>
                    <a:ext uri="{9D8B030D-6E8A-4147-A177-3AD203B41FA5}">
                      <a16:colId xmlns:a16="http://schemas.microsoft.com/office/drawing/2014/main" val="27788758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138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1" dirty="0"/>
                        <a:t>&lt;h1&gt; - &lt;h6&gt;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1" dirty="0"/>
                        <a:t>Define headings of decreasing importance, where &lt;h1&gt; is the main heading and &lt;h6&gt; is the least important.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199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1" dirty="0"/>
                        <a:t>&lt;</a:t>
                      </a:r>
                      <a:r>
                        <a:rPr lang="en-IN" sz="2000" b="1" dirty="0" err="1"/>
                        <a:t>img</a:t>
                      </a:r>
                      <a:r>
                        <a:rPr lang="en-IN" sz="2000" b="1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1" dirty="0"/>
                        <a:t>Embeds images and requires attributes like </a:t>
                      </a:r>
                      <a:r>
                        <a:rPr lang="en-GB" sz="2000" b="1" dirty="0" err="1"/>
                        <a:t>src</a:t>
                      </a:r>
                      <a:r>
                        <a:rPr lang="en-GB" sz="2000" b="1" dirty="0"/>
                        <a:t> (source) and alt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192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1" dirty="0"/>
                        <a:t>&lt;p&gt;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1" dirty="0"/>
                        <a:t>Represents a paragraph, used to structure blocks of text.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847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1" dirty="0"/>
                        <a:t>&lt;a&gt;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1" dirty="0"/>
                        <a:t>Defines hyperlinks that allow navigation between pages, sections, or external websites.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3221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1" dirty="0"/>
                        <a:t>&lt;main&gt;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1" dirty="0"/>
                        <a:t>Represents the dominant content area of a webpage, unique and central to the document.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114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7310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05D0E40-FA97-F4E8-0935-875958D33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82" y="328438"/>
            <a:ext cx="11132616" cy="970450"/>
          </a:xfrm>
        </p:spPr>
        <p:txBody>
          <a:bodyPr/>
          <a:lstStyle/>
          <a:p>
            <a:r>
              <a:rPr lang="en-IN" dirty="0"/>
              <a:t>1.Block-Level Elements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F3D9FD-1FAD-63BE-A324-285A49318FA5}"/>
              </a:ext>
            </a:extLst>
          </p:cNvPr>
          <p:cNvSpPr txBox="1"/>
          <p:nvPr/>
        </p:nvSpPr>
        <p:spPr>
          <a:xfrm>
            <a:off x="178135" y="2303817"/>
            <a:ext cx="11614062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These elements always start on a new line and occupy the full width available, stretching from left to right as far as they can.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Layout behavior: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They create a distinct "block" on the page, pushing other content to the next line.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Default width: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100% of the parent container (unless styled otherwise).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 type: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They can contain both block-level elements and inline elements.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examples: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&lt;div&gt;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&lt;p&gt;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&lt;h1&gt;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&lt;h6&gt;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&lt;li&gt;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&lt;section&gt;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&lt;article&gt;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754185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B5A33-BAC2-0AFF-B8D1-40FB21C4C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16563"/>
            <a:ext cx="10571998" cy="970450"/>
          </a:xfrm>
        </p:spPr>
        <p:txBody>
          <a:bodyPr/>
          <a:lstStyle/>
          <a:p>
            <a:r>
              <a:rPr lang="en-IN" dirty="0"/>
              <a:t>2. Inline Elements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C8D642-FB35-6178-1220-24F7FD849EFB}"/>
              </a:ext>
            </a:extLst>
          </p:cNvPr>
          <p:cNvSpPr txBox="1"/>
          <p:nvPr/>
        </p:nvSpPr>
        <p:spPr>
          <a:xfrm>
            <a:off x="190009" y="2303821"/>
            <a:ext cx="1185157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These elements do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start on a new line and only take up as much width as their content requires.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Layout behavior: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They flow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line of text, without breaking 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Default width: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Shrinks to fit the content inside them.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 type: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Typically contain only text or other inline elements (not block-level elements).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examples: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&lt;span&gt;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&lt;a&gt;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&lt;strong&gt;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img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&lt;label&gt;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2427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C42C1-B519-05BF-8E51-D96736FE3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519" y="387813"/>
            <a:ext cx="10660766" cy="970450"/>
          </a:xfrm>
        </p:spPr>
        <p:txBody>
          <a:bodyPr/>
          <a:lstStyle/>
          <a:p>
            <a:r>
              <a:rPr lang="en-GB" dirty="0"/>
              <a:t>Key Differences at a Glance: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A53338-594F-BF3A-D872-85F11C8DF3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321487"/>
              </p:ext>
            </p:extLst>
          </p:nvPr>
        </p:nvGraphicFramePr>
        <p:xfrm>
          <a:off x="356260" y="2774094"/>
          <a:ext cx="11471563" cy="312209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73828">
                  <a:extLst>
                    <a:ext uri="{9D8B030D-6E8A-4147-A177-3AD203B41FA5}">
                      <a16:colId xmlns:a16="http://schemas.microsoft.com/office/drawing/2014/main" val="44667774"/>
                    </a:ext>
                  </a:extLst>
                </a:gridCol>
                <a:gridCol w="4239491">
                  <a:extLst>
                    <a:ext uri="{9D8B030D-6E8A-4147-A177-3AD203B41FA5}">
                      <a16:colId xmlns:a16="http://schemas.microsoft.com/office/drawing/2014/main" val="4007341281"/>
                    </a:ext>
                  </a:extLst>
                </a:gridCol>
                <a:gridCol w="4358244">
                  <a:extLst>
                    <a:ext uri="{9D8B030D-6E8A-4147-A177-3AD203B41FA5}">
                      <a16:colId xmlns:a16="http://schemas.microsoft.com/office/drawing/2014/main" val="3110483140"/>
                    </a:ext>
                  </a:extLst>
                </a:gridCol>
              </a:tblGrid>
              <a:tr h="573337">
                <a:tc>
                  <a:txBody>
                    <a:bodyPr/>
                    <a:lstStyle/>
                    <a:p>
                      <a:r>
                        <a:rPr lang="en-IN" sz="2000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Block-Level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Inline Elements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66903"/>
                  </a:ext>
                </a:extLst>
              </a:tr>
              <a:tr h="573337">
                <a:tc>
                  <a:txBody>
                    <a:bodyPr/>
                    <a:lstStyle/>
                    <a:p>
                      <a:r>
                        <a:rPr lang="en-IN" sz="2000" b="1" dirty="0"/>
                        <a:t>Starts on new 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4514323"/>
                  </a:ext>
                </a:extLst>
              </a:tr>
              <a:tr h="573337">
                <a:tc>
                  <a:txBody>
                    <a:bodyPr/>
                    <a:lstStyle/>
                    <a:p>
                      <a:r>
                        <a:rPr lang="en-IN" sz="2000" b="1" dirty="0"/>
                        <a:t>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Occupies full width by default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Only as wide as content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195353"/>
                  </a:ext>
                </a:extLst>
              </a:tr>
              <a:tr h="573337">
                <a:tc>
                  <a:txBody>
                    <a:bodyPr/>
                    <a:lstStyle/>
                    <a:p>
                      <a:r>
                        <a:rPr lang="en-IN" sz="2000" b="1" dirty="0"/>
                        <a:t>Can contain block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203966"/>
                  </a:ext>
                </a:extLst>
              </a:tr>
              <a:tr h="573337">
                <a:tc>
                  <a:txBody>
                    <a:bodyPr/>
                    <a:lstStyle/>
                    <a:p>
                      <a:r>
                        <a:rPr lang="en-IN" sz="2000" b="1" dirty="0"/>
                        <a:t>Used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Structuring layout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Styling or </a:t>
                      </a:r>
                      <a:r>
                        <a:rPr lang="en-IN" sz="2000" b="1" dirty="0" err="1"/>
                        <a:t>emphasinzing</a:t>
                      </a:r>
                      <a:r>
                        <a:rPr lang="en-IN" sz="2000" b="1" dirty="0"/>
                        <a:t> text within a 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503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43894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{4A3E3D8F-C7AA-4528-B2F2-1A1D4D316E3C}tf03457503</Template>
  <TotalTime>280</TotalTime>
  <Words>954</Words>
  <Application>Microsoft Office PowerPoint</Application>
  <PresentationFormat>Widescreen</PresentationFormat>
  <Paragraphs>119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Unicode MS</vt:lpstr>
      <vt:lpstr>Century Gothic</vt:lpstr>
      <vt:lpstr>Wingdings 2</vt:lpstr>
      <vt:lpstr>Quotable</vt:lpstr>
      <vt:lpstr>Assignments </vt:lpstr>
      <vt:lpstr>Explain the structure of an HTML document and the purpose of DOCTYPE.</vt:lpstr>
      <vt:lpstr>1. Structure of an HTML Document</vt:lpstr>
      <vt:lpstr>1.&lt;!DOCTYPE html&gt; </vt:lpstr>
      <vt:lpstr>PowerPoint Presentation</vt:lpstr>
      <vt:lpstr>2.Purpose of &lt;!DOCTYPE&gt;</vt:lpstr>
      <vt:lpstr>List and explain at least five common HTML tags used in website design.</vt:lpstr>
      <vt:lpstr>PowerPoint Presentation</vt:lpstr>
      <vt:lpstr>1.Block-Level Elements</vt:lpstr>
      <vt:lpstr>2. Inline Elements</vt:lpstr>
      <vt:lpstr>Key Differences at a Glance: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varmavishal8888@gmail.com</dc:creator>
  <cp:lastModifiedBy>varmavishal8888@gmail.com</cp:lastModifiedBy>
  <cp:revision>4</cp:revision>
  <dcterms:created xsi:type="dcterms:W3CDTF">2025-08-14T13:52:35Z</dcterms:created>
  <dcterms:modified xsi:type="dcterms:W3CDTF">2025-08-14T19:04:38Z</dcterms:modified>
</cp:coreProperties>
</file>